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handoutMasterIdLst>
    <p:handoutMasterId r:id="rId43"/>
  </p:handoutMasterIdLst>
  <p:sldIdLst>
    <p:sldId id="267" r:id="rId5"/>
    <p:sldId id="269" r:id="rId6"/>
    <p:sldId id="257" r:id="rId7"/>
    <p:sldId id="270" r:id="rId8"/>
    <p:sldId id="258" r:id="rId9"/>
    <p:sldId id="271" r:id="rId10"/>
    <p:sldId id="272" r:id="rId11"/>
    <p:sldId id="273" r:id="rId12"/>
    <p:sldId id="274" r:id="rId13"/>
    <p:sldId id="275" r:id="rId14"/>
    <p:sldId id="276" r:id="rId15"/>
    <p:sldId id="277" r:id="rId16"/>
    <p:sldId id="278" r:id="rId17"/>
    <p:sldId id="279" r:id="rId18"/>
    <p:sldId id="281" r:id="rId19"/>
    <p:sldId id="282" r:id="rId20"/>
    <p:sldId id="280" r:id="rId21"/>
    <p:sldId id="283" r:id="rId22"/>
    <p:sldId id="284" r:id="rId23"/>
    <p:sldId id="286" r:id="rId24"/>
    <p:sldId id="285"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 clrIdx="1"/>
  <p:cmAuthor id="3" name="M. Shaiq Gohar" initials="MSG" lastIdx="1" clrIdx="2">
    <p:extLst>
      <p:ext uri="{19B8F6BF-5375-455C-9EA6-DF929625EA0E}">
        <p15:presenceInfo xmlns:p15="http://schemas.microsoft.com/office/powerpoint/2012/main" userId="2e96bb0ad9df83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EFEDE3"/>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06799F8-075E-4A3A-A7F6-7FBC6576F1A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712" autoAdjust="0"/>
  </p:normalViewPr>
  <p:slideViewPr>
    <p:cSldViewPr snapToGrid="0">
      <p:cViewPr varScale="1">
        <p:scale>
          <a:sx n="114" d="100"/>
          <a:sy n="114" d="100"/>
        </p:scale>
        <p:origin x="474" y="102"/>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2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F8262A-EC9C-4C27-B545-0712909F2659}"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US"/>
        </a:p>
      </dgm:t>
    </dgm:pt>
    <dgm:pt modelId="{22C84633-088F-4ACF-A9D5-8AB8DFAF82C7}">
      <dgm:prSet phldrT="[Text]" custT="1"/>
      <dgm:spPr>
        <a:xfrm>
          <a:off x="313234" y="12209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Introduction</a:t>
          </a:r>
        </a:p>
      </dgm:t>
    </dgm:pt>
    <dgm:pt modelId="{87E1CE22-578E-4849-A1D4-75E9207AD7C6}" type="parTrans" cxnId="{0845260E-90F7-4262-BBEA-B50A2F180C11}">
      <dgm:prSet/>
      <dgm:spPr/>
      <dgm:t>
        <a:bodyPr/>
        <a:lstStyle/>
        <a:p>
          <a:endParaRPr lang="en-US" sz="1600">
            <a:latin typeface="+mj-lt"/>
          </a:endParaRPr>
        </a:p>
      </dgm:t>
    </dgm:pt>
    <dgm:pt modelId="{2DEAFFBA-7601-4F40-86A0-4E9F24D4708B}" type="sibTrans" cxnId="{0845260E-90F7-4262-BBEA-B50A2F180C11}">
      <dgm:prSet/>
      <dgm:spPr/>
      <dgm:t>
        <a:bodyPr/>
        <a:lstStyle/>
        <a:p>
          <a:endParaRPr lang="en-US" sz="1600">
            <a:latin typeface="+mj-lt"/>
          </a:endParaRPr>
        </a:p>
      </dgm:t>
    </dgm:pt>
    <dgm:pt modelId="{D7EA7F2D-0C79-4C97-BFAC-B9BCDA9A9BDA}">
      <dgm:prSet phldrT="[Text]" custT="1"/>
      <dgm:spPr>
        <a:xfrm>
          <a:off x="313234" y="112001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Process Selection</a:t>
          </a:r>
        </a:p>
      </dgm:t>
    </dgm:pt>
    <dgm:pt modelId="{610F77EE-AE5E-49E3-91BB-7CBBD02CFC9A}" type="parTrans" cxnId="{1408A7DC-4BF8-45F1-AF46-E6308B7DF171}">
      <dgm:prSet/>
      <dgm:spPr/>
      <dgm:t>
        <a:bodyPr/>
        <a:lstStyle/>
        <a:p>
          <a:endParaRPr lang="en-US" sz="1600">
            <a:latin typeface="+mj-lt"/>
          </a:endParaRPr>
        </a:p>
      </dgm:t>
    </dgm:pt>
    <dgm:pt modelId="{552DAEFC-FB40-466D-BA01-43F0AB2926D1}" type="sibTrans" cxnId="{1408A7DC-4BF8-45F1-AF46-E6308B7DF171}">
      <dgm:prSet/>
      <dgm:spPr/>
      <dgm:t>
        <a:bodyPr/>
        <a:lstStyle/>
        <a:p>
          <a:endParaRPr lang="en-US" sz="1600">
            <a:latin typeface="+mj-lt"/>
          </a:endParaRPr>
        </a:p>
      </dgm:t>
    </dgm:pt>
    <dgm:pt modelId="{541F6FDF-E4CB-425E-AEF5-903AEC294A1B}">
      <dgm:prSet phldrT="[Text]" custT="1"/>
      <dgm:spPr>
        <a:xfrm>
          <a:off x="313234" y="161897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Raw Material Selection</a:t>
          </a:r>
        </a:p>
      </dgm:t>
    </dgm:pt>
    <dgm:pt modelId="{B0B87A4F-8AB3-4F47-8776-1AC52239D2F4}" type="parTrans" cxnId="{3C2DB92E-8926-4A00-9B23-ECC3C6121193}">
      <dgm:prSet/>
      <dgm:spPr/>
      <dgm:t>
        <a:bodyPr/>
        <a:lstStyle/>
        <a:p>
          <a:endParaRPr lang="en-US" sz="1600">
            <a:latin typeface="+mj-lt"/>
          </a:endParaRPr>
        </a:p>
      </dgm:t>
    </dgm:pt>
    <dgm:pt modelId="{12CAB1ED-D10C-4C73-9408-9CB32CBC4274}" type="sibTrans" cxnId="{3C2DB92E-8926-4A00-9B23-ECC3C6121193}">
      <dgm:prSet/>
      <dgm:spPr/>
      <dgm:t>
        <a:bodyPr/>
        <a:lstStyle/>
        <a:p>
          <a:endParaRPr lang="en-US" sz="1600">
            <a:latin typeface="+mj-lt"/>
          </a:endParaRPr>
        </a:p>
      </dgm:t>
    </dgm:pt>
    <dgm:pt modelId="{62C5D8A5-8628-48C0-A6AB-4448279ADD9A}">
      <dgm:prSet phldrT="[Text]" custT="1"/>
      <dgm:spPr>
        <a:xfrm>
          <a:off x="313234" y="211793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Process</a:t>
          </a:r>
          <a:r>
            <a:rPr lang="en-US" sz="1600" baseline="0" dirty="0">
              <a:solidFill>
                <a:srgbClr val="002060"/>
              </a:solidFill>
              <a:latin typeface="Arial"/>
              <a:ea typeface="+mn-ea"/>
              <a:cs typeface="Arial"/>
            </a:rPr>
            <a:t> Flow Diagram and PFD description</a:t>
          </a:r>
          <a:endParaRPr lang="en-US" sz="1600" dirty="0">
            <a:solidFill>
              <a:srgbClr val="002060"/>
            </a:solidFill>
            <a:latin typeface="Arial"/>
            <a:ea typeface="+mn-ea"/>
            <a:cs typeface="Arial"/>
          </a:endParaRPr>
        </a:p>
      </dgm:t>
    </dgm:pt>
    <dgm:pt modelId="{55B97F70-9891-4240-A5F0-33BB6564AD7C}" type="parTrans" cxnId="{E407A4E3-906E-4FF2-88E3-AAB409E0FF9D}">
      <dgm:prSet/>
      <dgm:spPr/>
      <dgm:t>
        <a:bodyPr/>
        <a:lstStyle/>
        <a:p>
          <a:endParaRPr lang="en-US" sz="1600">
            <a:latin typeface="+mj-lt"/>
          </a:endParaRPr>
        </a:p>
      </dgm:t>
    </dgm:pt>
    <dgm:pt modelId="{6E2636AA-3292-4083-8554-E439866F8108}" type="sibTrans" cxnId="{E407A4E3-906E-4FF2-88E3-AAB409E0FF9D}">
      <dgm:prSet/>
      <dgm:spPr/>
      <dgm:t>
        <a:bodyPr/>
        <a:lstStyle/>
        <a:p>
          <a:endParaRPr lang="en-US" sz="1600">
            <a:latin typeface="+mj-lt"/>
          </a:endParaRPr>
        </a:p>
      </dgm:t>
    </dgm:pt>
    <dgm:pt modelId="{A005B293-A1A4-4DC0-B7F4-F8252842780A}">
      <dgm:prSet phldrT="[Text]" custT="1"/>
      <dgm:spPr>
        <a:xfrm>
          <a:off x="313234" y="261689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Capacity Selection</a:t>
          </a:r>
        </a:p>
      </dgm:t>
    </dgm:pt>
    <dgm:pt modelId="{6F7FC0B0-85BE-4C00-93BE-76C3FE55FB0D}" type="parTrans" cxnId="{4EBF8D43-ED8B-438D-8D9D-5BC7505DA50B}">
      <dgm:prSet/>
      <dgm:spPr/>
      <dgm:t>
        <a:bodyPr/>
        <a:lstStyle/>
        <a:p>
          <a:endParaRPr lang="en-US" sz="1600">
            <a:latin typeface="+mj-lt"/>
          </a:endParaRPr>
        </a:p>
      </dgm:t>
    </dgm:pt>
    <dgm:pt modelId="{A8EB0F2E-5A1A-4B73-8102-BB5626CF7934}" type="sibTrans" cxnId="{4EBF8D43-ED8B-438D-8D9D-5BC7505DA50B}">
      <dgm:prSet/>
      <dgm:spPr/>
      <dgm:t>
        <a:bodyPr/>
        <a:lstStyle/>
        <a:p>
          <a:endParaRPr lang="en-US" sz="1600">
            <a:latin typeface="+mj-lt"/>
          </a:endParaRPr>
        </a:p>
      </dgm:t>
    </dgm:pt>
    <dgm:pt modelId="{8E855A89-6BC0-46CD-B2AA-95C0498BA5ED}">
      <dgm:prSet phldrT="[Text]" custT="1"/>
      <dgm:spPr>
        <a:xfrm>
          <a:off x="313234" y="311585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Material and Energy Balance</a:t>
          </a:r>
        </a:p>
      </dgm:t>
    </dgm:pt>
    <dgm:pt modelId="{CC1BF877-FF8E-4148-AC8C-74C5CDE76D13}" type="parTrans" cxnId="{ECC6A8EE-2FEB-4939-B62E-64289236FA15}">
      <dgm:prSet/>
      <dgm:spPr/>
      <dgm:t>
        <a:bodyPr/>
        <a:lstStyle/>
        <a:p>
          <a:endParaRPr lang="en-US" sz="1600">
            <a:latin typeface="+mj-lt"/>
          </a:endParaRPr>
        </a:p>
      </dgm:t>
    </dgm:pt>
    <dgm:pt modelId="{DCE8A083-D4E7-4C96-8537-E81619F995CF}" type="sibTrans" cxnId="{ECC6A8EE-2FEB-4939-B62E-64289236FA15}">
      <dgm:prSet/>
      <dgm:spPr/>
      <dgm:t>
        <a:bodyPr/>
        <a:lstStyle/>
        <a:p>
          <a:endParaRPr lang="en-US" sz="1600">
            <a:latin typeface="+mj-lt"/>
          </a:endParaRPr>
        </a:p>
      </dgm:t>
    </dgm:pt>
    <dgm:pt modelId="{9A09C93D-1AFC-4735-8E08-5D222C29EA13}">
      <dgm:prSet phldrT="[Text]" custT="1"/>
      <dgm:spPr>
        <a:xfrm>
          <a:off x="313234" y="621052"/>
          <a:ext cx="4385287" cy="32472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gm:spPr>
      <dgm:t>
        <a:bodyPr/>
        <a:lstStyle/>
        <a:p>
          <a:pPr>
            <a:buNone/>
          </a:pPr>
          <a:r>
            <a:rPr lang="en-US" sz="1600" dirty="0">
              <a:solidFill>
                <a:srgbClr val="002060"/>
              </a:solidFill>
              <a:latin typeface="Arial"/>
              <a:ea typeface="+mn-ea"/>
              <a:cs typeface="Arial"/>
            </a:rPr>
            <a:t>Project Selection</a:t>
          </a:r>
        </a:p>
      </dgm:t>
    </dgm:pt>
    <dgm:pt modelId="{6EDD1CE5-5212-4417-B786-F0E5A83E7968}" type="sibTrans" cxnId="{79457B59-EF78-4962-9AC1-2BED71AE395E}">
      <dgm:prSet/>
      <dgm:spPr/>
      <dgm:t>
        <a:bodyPr/>
        <a:lstStyle/>
        <a:p>
          <a:endParaRPr lang="en-US" sz="1600">
            <a:latin typeface="+mj-lt"/>
          </a:endParaRPr>
        </a:p>
      </dgm:t>
    </dgm:pt>
    <dgm:pt modelId="{E6228676-3583-4791-9EE6-72665E12E246}" type="parTrans" cxnId="{79457B59-EF78-4962-9AC1-2BED71AE395E}">
      <dgm:prSet/>
      <dgm:spPr/>
      <dgm:t>
        <a:bodyPr/>
        <a:lstStyle/>
        <a:p>
          <a:endParaRPr lang="en-US" sz="1600">
            <a:latin typeface="+mj-lt"/>
          </a:endParaRPr>
        </a:p>
      </dgm:t>
    </dgm:pt>
    <dgm:pt modelId="{4361A06B-ED90-4F28-8D31-BA6571653341}">
      <dgm:prSet/>
      <dgm:spPr>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t>
        <a:bodyPr/>
        <a:lstStyle/>
        <a:p>
          <a:endParaRPr lang="en-PK" dirty="0"/>
        </a:p>
      </dgm:t>
    </dgm:pt>
    <dgm:pt modelId="{75CF924C-6ABF-4D51-853D-1B404D7333B7}" type="parTrans" cxnId="{96E9E497-A6F9-41B8-A080-474E3CEB6710}">
      <dgm:prSet/>
      <dgm:spPr/>
      <dgm:t>
        <a:bodyPr/>
        <a:lstStyle/>
        <a:p>
          <a:endParaRPr lang="en-PK"/>
        </a:p>
      </dgm:t>
    </dgm:pt>
    <dgm:pt modelId="{2133162A-96EE-4996-B294-ACEFF280DFD7}" type="sibTrans" cxnId="{96E9E497-A6F9-41B8-A080-474E3CEB6710}">
      <dgm:prSet/>
      <dgm:spPr/>
      <dgm:t>
        <a:bodyPr/>
        <a:lstStyle/>
        <a:p>
          <a:endParaRPr lang="en-PK"/>
        </a:p>
      </dgm:t>
    </dgm:pt>
    <dgm:pt modelId="{F1548E9B-E064-4D2D-9A3A-2B6B8A315058}" type="pres">
      <dgm:prSet presAssocID="{7AF8262A-EC9C-4C27-B545-0712909F2659}" presName="linear" presStyleCnt="0">
        <dgm:presLayoutVars>
          <dgm:dir/>
          <dgm:animLvl val="lvl"/>
          <dgm:resizeHandles val="exact"/>
        </dgm:presLayoutVars>
      </dgm:prSet>
      <dgm:spPr/>
      <dgm:t>
        <a:bodyPr/>
        <a:lstStyle/>
        <a:p>
          <a:endParaRPr lang="en-US"/>
        </a:p>
      </dgm:t>
    </dgm:pt>
    <dgm:pt modelId="{146A88CE-3817-4A3A-8A9B-AE2BB7A2B6F8}" type="pres">
      <dgm:prSet presAssocID="{22C84633-088F-4ACF-A9D5-8AB8DFAF82C7}" presName="parentLin" presStyleCnt="0"/>
      <dgm:spPr/>
    </dgm:pt>
    <dgm:pt modelId="{7CF332A2-C378-48E9-B48F-F2CE9189DA29}" type="pres">
      <dgm:prSet presAssocID="{22C84633-088F-4ACF-A9D5-8AB8DFAF82C7}" presName="parentLeftMargin" presStyleLbl="node1" presStyleIdx="0" presStyleCnt="7"/>
      <dgm:spPr/>
      <dgm:t>
        <a:bodyPr/>
        <a:lstStyle/>
        <a:p>
          <a:endParaRPr lang="en-US"/>
        </a:p>
      </dgm:t>
    </dgm:pt>
    <dgm:pt modelId="{21997C10-C8CD-4CF5-A480-CDB7757BB3EC}" type="pres">
      <dgm:prSet presAssocID="{22C84633-088F-4ACF-A9D5-8AB8DFAF82C7}" presName="parentText" presStyleLbl="node1" presStyleIdx="0" presStyleCnt="7">
        <dgm:presLayoutVars>
          <dgm:chMax val="0"/>
          <dgm:bulletEnabled val="1"/>
        </dgm:presLayoutVars>
      </dgm:prSet>
      <dgm:spPr/>
      <dgm:t>
        <a:bodyPr/>
        <a:lstStyle/>
        <a:p>
          <a:endParaRPr lang="en-US"/>
        </a:p>
      </dgm:t>
    </dgm:pt>
    <dgm:pt modelId="{596574B0-58FE-42E2-B345-247F517B87EA}" type="pres">
      <dgm:prSet presAssocID="{22C84633-088F-4ACF-A9D5-8AB8DFAF82C7}" presName="negativeSpace" presStyleCnt="0"/>
      <dgm:spPr/>
    </dgm:pt>
    <dgm:pt modelId="{842BA774-3A10-42FC-9871-BB10417D7495}" type="pres">
      <dgm:prSet presAssocID="{22C84633-088F-4ACF-A9D5-8AB8DFAF82C7}" presName="childText" presStyleLbl="conFgAcc1" presStyleIdx="0" presStyleCnt="7">
        <dgm:presLayoutVars>
          <dgm:bulletEnabled val="1"/>
        </dgm:presLayoutVars>
      </dgm:prSet>
      <dgm:spPr>
        <a:xfrm>
          <a:off x="0" y="28445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 modelId="{E7AF067F-D196-4506-927D-ABE32126BE8F}" type="pres">
      <dgm:prSet presAssocID="{2DEAFFBA-7601-4F40-86A0-4E9F24D4708B}" presName="spaceBetweenRectangles" presStyleCnt="0"/>
      <dgm:spPr/>
    </dgm:pt>
    <dgm:pt modelId="{49599512-3C14-4155-A2C8-6057AC088124}" type="pres">
      <dgm:prSet presAssocID="{9A09C93D-1AFC-4735-8E08-5D222C29EA13}" presName="parentLin" presStyleCnt="0"/>
      <dgm:spPr/>
    </dgm:pt>
    <dgm:pt modelId="{B93F95F3-BAEC-4219-8284-30B7FC6EB518}" type="pres">
      <dgm:prSet presAssocID="{9A09C93D-1AFC-4735-8E08-5D222C29EA13}" presName="parentLeftMargin" presStyleLbl="node1" presStyleIdx="0" presStyleCnt="7"/>
      <dgm:spPr/>
      <dgm:t>
        <a:bodyPr/>
        <a:lstStyle/>
        <a:p>
          <a:endParaRPr lang="en-US"/>
        </a:p>
      </dgm:t>
    </dgm:pt>
    <dgm:pt modelId="{0A05A727-911D-48D0-ACAA-3D54F8C6310A}" type="pres">
      <dgm:prSet presAssocID="{9A09C93D-1AFC-4735-8E08-5D222C29EA13}" presName="parentText" presStyleLbl="node1" presStyleIdx="1" presStyleCnt="7">
        <dgm:presLayoutVars>
          <dgm:chMax val="0"/>
          <dgm:bulletEnabled val="1"/>
        </dgm:presLayoutVars>
      </dgm:prSet>
      <dgm:spPr/>
      <dgm:t>
        <a:bodyPr/>
        <a:lstStyle/>
        <a:p>
          <a:endParaRPr lang="en-US"/>
        </a:p>
      </dgm:t>
    </dgm:pt>
    <dgm:pt modelId="{F3B3BB45-FA4A-4FC8-930F-FCEF587828D8}" type="pres">
      <dgm:prSet presAssocID="{9A09C93D-1AFC-4735-8E08-5D222C29EA13}" presName="negativeSpace" presStyleCnt="0"/>
      <dgm:spPr/>
    </dgm:pt>
    <dgm:pt modelId="{D91ECB2A-85D8-4C57-970C-A05AEADE5497}" type="pres">
      <dgm:prSet presAssocID="{9A09C93D-1AFC-4735-8E08-5D222C29EA13}" presName="childText" presStyleLbl="conFgAcc1" presStyleIdx="1" presStyleCnt="7">
        <dgm:presLayoutVars>
          <dgm:bulletEnabled val="1"/>
        </dgm:presLayoutVars>
      </dgm:prSet>
      <dgm:spPr>
        <a:xfrm>
          <a:off x="0" y="78341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 modelId="{170F8BCD-A8B2-4415-A9C5-78DD29189650}" type="pres">
      <dgm:prSet presAssocID="{6EDD1CE5-5212-4417-B786-F0E5A83E7968}" presName="spaceBetweenRectangles" presStyleCnt="0"/>
      <dgm:spPr/>
    </dgm:pt>
    <dgm:pt modelId="{5ADE19D2-BD9E-4C86-9EC7-36492FA8C1F4}" type="pres">
      <dgm:prSet presAssocID="{D7EA7F2D-0C79-4C97-BFAC-B9BCDA9A9BDA}" presName="parentLin" presStyleCnt="0"/>
      <dgm:spPr/>
    </dgm:pt>
    <dgm:pt modelId="{179117C5-83F9-43D6-9583-E723FEB8D7CF}" type="pres">
      <dgm:prSet presAssocID="{D7EA7F2D-0C79-4C97-BFAC-B9BCDA9A9BDA}" presName="parentLeftMargin" presStyleLbl="node1" presStyleIdx="1" presStyleCnt="7"/>
      <dgm:spPr/>
      <dgm:t>
        <a:bodyPr/>
        <a:lstStyle/>
        <a:p>
          <a:endParaRPr lang="en-US"/>
        </a:p>
      </dgm:t>
    </dgm:pt>
    <dgm:pt modelId="{6D1F5E9A-6D1B-4731-B567-E88EF86187D8}" type="pres">
      <dgm:prSet presAssocID="{D7EA7F2D-0C79-4C97-BFAC-B9BCDA9A9BDA}" presName="parentText" presStyleLbl="node1" presStyleIdx="2" presStyleCnt="7">
        <dgm:presLayoutVars>
          <dgm:chMax val="0"/>
          <dgm:bulletEnabled val="1"/>
        </dgm:presLayoutVars>
      </dgm:prSet>
      <dgm:spPr/>
      <dgm:t>
        <a:bodyPr/>
        <a:lstStyle/>
        <a:p>
          <a:endParaRPr lang="en-US"/>
        </a:p>
      </dgm:t>
    </dgm:pt>
    <dgm:pt modelId="{7DA51087-176F-4E71-8827-D09D99095353}" type="pres">
      <dgm:prSet presAssocID="{D7EA7F2D-0C79-4C97-BFAC-B9BCDA9A9BDA}" presName="negativeSpace" presStyleCnt="0"/>
      <dgm:spPr/>
    </dgm:pt>
    <dgm:pt modelId="{81BC9A93-0513-4753-8C39-4DB2078E7B46}" type="pres">
      <dgm:prSet presAssocID="{D7EA7F2D-0C79-4C97-BFAC-B9BCDA9A9BDA}" presName="childText" presStyleLbl="conFgAcc1" presStyleIdx="2" presStyleCnt="7" custLinFactNeighborY="0">
        <dgm:presLayoutVars>
          <dgm:bulletEnabled val="1"/>
        </dgm:presLayoutVars>
      </dgm:prSet>
      <dgm:spPr>
        <a:xfrm>
          <a:off x="0" y="128237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 modelId="{24793BF7-D8FB-4BC5-B094-BDCC8D4DF090}" type="pres">
      <dgm:prSet presAssocID="{552DAEFC-FB40-466D-BA01-43F0AB2926D1}" presName="spaceBetweenRectangles" presStyleCnt="0"/>
      <dgm:spPr/>
    </dgm:pt>
    <dgm:pt modelId="{142F5FBE-1657-4A48-BDF2-34AEEC4A6529}" type="pres">
      <dgm:prSet presAssocID="{541F6FDF-E4CB-425E-AEF5-903AEC294A1B}" presName="parentLin" presStyleCnt="0"/>
      <dgm:spPr/>
    </dgm:pt>
    <dgm:pt modelId="{6F3AEC2E-921C-4626-AF82-04E799E293BE}" type="pres">
      <dgm:prSet presAssocID="{541F6FDF-E4CB-425E-AEF5-903AEC294A1B}" presName="parentLeftMargin" presStyleLbl="node1" presStyleIdx="2" presStyleCnt="7"/>
      <dgm:spPr/>
      <dgm:t>
        <a:bodyPr/>
        <a:lstStyle/>
        <a:p>
          <a:endParaRPr lang="en-US"/>
        </a:p>
      </dgm:t>
    </dgm:pt>
    <dgm:pt modelId="{B477C30D-DF88-4EBA-A8B1-8BEF287A1275}" type="pres">
      <dgm:prSet presAssocID="{541F6FDF-E4CB-425E-AEF5-903AEC294A1B}" presName="parentText" presStyleLbl="node1" presStyleIdx="3" presStyleCnt="7">
        <dgm:presLayoutVars>
          <dgm:chMax val="0"/>
          <dgm:bulletEnabled val="1"/>
        </dgm:presLayoutVars>
      </dgm:prSet>
      <dgm:spPr/>
      <dgm:t>
        <a:bodyPr/>
        <a:lstStyle/>
        <a:p>
          <a:endParaRPr lang="en-US"/>
        </a:p>
      </dgm:t>
    </dgm:pt>
    <dgm:pt modelId="{E575845F-EBD1-44DE-8EF5-2D986CE91661}" type="pres">
      <dgm:prSet presAssocID="{541F6FDF-E4CB-425E-AEF5-903AEC294A1B}" presName="negativeSpace" presStyleCnt="0"/>
      <dgm:spPr/>
    </dgm:pt>
    <dgm:pt modelId="{1033F70C-5EFA-450B-92E7-62FB17452887}" type="pres">
      <dgm:prSet presAssocID="{541F6FDF-E4CB-425E-AEF5-903AEC294A1B}" presName="childText" presStyleLbl="conFgAcc1" presStyleIdx="3" presStyleCnt="7">
        <dgm:presLayoutVars>
          <dgm:bulletEnabled val="1"/>
        </dgm:presLayoutVars>
      </dgm:prSet>
      <dgm:spPr>
        <a:xfrm>
          <a:off x="0" y="178133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 modelId="{5F918B50-90C7-4DBC-8FDA-F2803BBA3345}" type="pres">
      <dgm:prSet presAssocID="{12CAB1ED-D10C-4C73-9408-9CB32CBC4274}" presName="spaceBetweenRectangles" presStyleCnt="0"/>
      <dgm:spPr/>
    </dgm:pt>
    <dgm:pt modelId="{AA1EAD11-8913-486E-82C2-23257BD24651}" type="pres">
      <dgm:prSet presAssocID="{62C5D8A5-8628-48C0-A6AB-4448279ADD9A}" presName="parentLin" presStyleCnt="0"/>
      <dgm:spPr/>
    </dgm:pt>
    <dgm:pt modelId="{82CDA5E8-48B8-4E29-8336-6C5FD823BD2B}" type="pres">
      <dgm:prSet presAssocID="{62C5D8A5-8628-48C0-A6AB-4448279ADD9A}" presName="parentLeftMargin" presStyleLbl="node1" presStyleIdx="3" presStyleCnt="7"/>
      <dgm:spPr/>
      <dgm:t>
        <a:bodyPr/>
        <a:lstStyle/>
        <a:p>
          <a:endParaRPr lang="en-US"/>
        </a:p>
      </dgm:t>
    </dgm:pt>
    <dgm:pt modelId="{DF10BDFC-38E8-406E-BD20-1D38BF136340}" type="pres">
      <dgm:prSet presAssocID="{62C5D8A5-8628-48C0-A6AB-4448279ADD9A}" presName="parentText" presStyleLbl="node1" presStyleIdx="4" presStyleCnt="7">
        <dgm:presLayoutVars>
          <dgm:chMax val="0"/>
          <dgm:bulletEnabled val="1"/>
        </dgm:presLayoutVars>
      </dgm:prSet>
      <dgm:spPr/>
      <dgm:t>
        <a:bodyPr/>
        <a:lstStyle/>
        <a:p>
          <a:endParaRPr lang="en-US"/>
        </a:p>
      </dgm:t>
    </dgm:pt>
    <dgm:pt modelId="{FF2DC0F5-38B0-47DB-978B-BF417E1F87E7}" type="pres">
      <dgm:prSet presAssocID="{62C5D8A5-8628-48C0-A6AB-4448279ADD9A}" presName="negativeSpace" presStyleCnt="0"/>
      <dgm:spPr/>
    </dgm:pt>
    <dgm:pt modelId="{E71D2A30-B84D-432F-85B2-586C61EEC104}" type="pres">
      <dgm:prSet presAssocID="{62C5D8A5-8628-48C0-A6AB-4448279ADD9A}" presName="childText" presStyleLbl="conFgAcc1" presStyleIdx="4" presStyleCnt="7">
        <dgm:presLayoutVars>
          <dgm:bulletEnabled val="1"/>
        </dgm:presLayoutVars>
      </dgm:prSet>
      <dgm:spPr>
        <a:xfrm>
          <a:off x="0" y="2280292"/>
          <a:ext cx="6264695" cy="277200"/>
        </a:xfrm>
        <a:prstGeom prst="rect">
          <a:avLst/>
        </a:prstGeom>
      </dgm:spPr>
      <dgm:t>
        <a:bodyPr/>
        <a:lstStyle/>
        <a:p>
          <a:endParaRPr lang="en-US"/>
        </a:p>
      </dgm:t>
    </dgm:pt>
    <dgm:pt modelId="{997B4930-A06D-4B0D-9E34-203867385DF1}" type="pres">
      <dgm:prSet presAssocID="{6E2636AA-3292-4083-8554-E439866F8108}" presName="spaceBetweenRectangles" presStyleCnt="0"/>
      <dgm:spPr/>
    </dgm:pt>
    <dgm:pt modelId="{692C64F8-1134-4925-9D88-EE02F676A8A1}" type="pres">
      <dgm:prSet presAssocID="{A005B293-A1A4-4DC0-B7F4-F8252842780A}" presName="parentLin" presStyleCnt="0"/>
      <dgm:spPr/>
    </dgm:pt>
    <dgm:pt modelId="{C14283C6-7C80-4480-BB35-5075B7BF4BD9}" type="pres">
      <dgm:prSet presAssocID="{A005B293-A1A4-4DC0-B7F4-F8252842780A}" presName="parentLeftMargin" presStyleLbl="node1" presStyleIdx="4" presStyleCnt="7"/>
      <dgm:spPr/>
      <dgm:t>
        <a:bodyPr/>
        <a:lstStyle/>
        <a:p>
          <a:endParaRPr lang="en-US"/>
        </a:p>
      </dgm:t>
    </dgm:pt>
    <dgm:pt modelId="{98E4CD37-CA8C-4AE9-8B04-7C55A4E334B6}" type="pres">
      <dgm:prSet presAssocID="{A005B293-A1A4-4DC0-B7F4-F8252842780A}" presName="parentText" presStyleLbl="node1" presStyleIdx="5" presStyleCnt="7">
        <dgm:presLayoutVars>
          <dgm:chMax val="0"/>
          <dgm:bulletEnabled val="1"/>
        </dgm:presLayoutVars>
      </dgm:prSet>
      <dgm:spPr/>
      <dgm:t>
        <a:bodyPr/>
        <a:lstStyle/>
        <a:p>
          <a:endParaRPr lang="en-US"/>
        </a:p>
      </dgm:t>
    </dgm:pt>
    <dgm:pt modelId="{4C4CD2E5-18C5-4503-A527-B0651D1AED11}" type="pres">
      <dgm:prSet presAssocID="{A005B293-A1A4-4DC0-B7F4-F8252842780A}" presName="negativeSpace" presStyleCnt="0"/>
      <dgm:spPr/>
    </dgm:pt>
    <dgm:pt modelId="{458D31F9-7B87-44FB-AE3A-1A4BDA00B3F2}" type="pres">
      <dgm:prSet presAssocID="{A005B293-A1A4-4DC0-B7F4-F8252842780A}" presName="childText" presStyleLbl="conFgAcc1" presStyleIdx="5" presStyleCnt="7">
        <dgm:presLayoutVars>
          <dgm:bulletEnabled val="1"/>
        </dgm:presLayoutVars>
      </dgm:prSet>
      <dgm:spPr>
        <a:xfrm>
          <a:off x="0" y="277925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 modelId="{C0531553-3E3D-4770-86C4-8FEEB063A21B}" type="pres">
      <dgm:prSet presAssocID="{A8EB0F2E-5A1A-4B73-8102-BB5626CF7934}" presName="spaceBetweenRectangles" presStyleCnt="0"/>
      <dgm:spPr/>
    </dgm:pt>
    <dgm:pt modelId="{90C1F4CD-0644-44F9-8204-A611DBFE1751}" type="pres">
      <dgm:prSet presAssocID="{8E855A89-6BC0-46CD-B2AA-95C0498BA5ED}" presName="parentLin" presStyleCnt="0"/>
      <dgm:spPr/>
    </dgm:pt>
    <dgm:pt modelId="{F9B2D8FE-A02E-4FCE-9E5A-52C6FBA75997}" type="pres">
      <dgm:prSet presAssocID="{8E855A89-6BC0-46CD-B2AA-95C0498BA5ED}" presName="parentLeftMargin" presStyleLbl="node1" presStyleIdx="5" presStyleCnt="7"/>
      <dgm:spPr/>
      <dgm:t>
        <a:bodyPr/>
        <a:lstStyle/>
        <a:p>
          <a:endParaRPr lang="en-US"/>
        </a:p>
      </dgm:t>
    </dgm:pt>
    <dgm:pt modelId="{9E5A6F51-2EE3-494A-B16C-E1B7C0086021}" type="pres">
      <dgm:prSet presAssocID="{8E855A89-6BC0-46CD-B2AA-95C0498BA5ED}" presName="parentText" presStyleLbl="node1" presStyleIdx="6" presStyleCnt="7">
        <dgm:presLayoutVars>
          <dgm:chMax val="0"/>
          <dgm:bulletEnabled val="1"/>
        </dgm:presLayoutVars>
      </dgm:prSet>
      <dgm:spPr/>
      <dgm:t>
        <a:bodyPr/>
        <a:lstStyle/>
        <a:p>
          <a:endParaRPr lang="en-US"/>
        </a:p>
      </dgm:t>
    </dgm:pt>
    <dgm:pt modelId="{048B5460-A8E2-4C08-86B9-D058CD2D4418}" type="pres">
      <dgm:prSet presAssocID="{8E855A89-6BC0-46CD-B2AA-95C0498BA5ED}" presName="negativeSpace" presStyleCnt="0"/>
      <dgm:spPr/>
    </dgm:pt>
    <dgm:pt modelId="{FBAE8E7A-1F01-4669-A645-DD794C4C5868}" type="pres">
      <dgm:prSet presAssocID="{8E855A89-6BC0-46CD-B2AA-95C0498BA5ED}" presName="childText" presStyleLbl="conFgAcc1" presStyleIdx="6" presStyleCnt="7">
        <dgm:presLayoutVars>
          <dgm:bulletEnabled val="1"/>
        </dgm:presLayoutVars>
      </dgm:prSet>
      <dgm:spPr>
        <a:xfrm>
          <a:off x="0" y="3278212"/>
          <a:ext cx="6264695" cy="2772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gm:spPr>
    </dgm:pt>
  </dgm:ptLst>
  <dgm:cxnLst>
    <dgm:cxn modelId="{E91E67D9-3305-400F-9A69-0B7B9EEC49C0}" type="presOf" srcId="{D7EA7F2D-0C79-4C97-BFAC-B9BCDA9A9BDA}" destId="{179117C5-83F9-43D6-9583-E723FEB8D7CF}" srcOrd="0" destOrd="0" presId="urn:microsoft.com/office/officeart/2005/8/layout/list1"/>
    <dgm:cxn modelId="{EA906F71-735E-4209-8DB7-C6F47282A83F}" type="presOf" srcId="{541F6FDF-E4CB-425E-AEF5-903AEC294A1B}" destId="{B477C30D-DF88-4EBA-A8B1-8BEF287A1275}" srcOrd="1" destOrd="0" presId="urn:microsoft.com/office/officeart/2005/8/layout/list1"/>
    <dgm:cxn modelId="{E407A4E3-906E-4FF2-88E3-AAB409E0FF9D}" srcId="{7AF8262A-EC9C-4C27-B545-0712909F2659}" destId="{62C5D8A5-8628-48C0-A6AB-4448279ADD9A}" srcOrd="4" destOrd="0" parTransId="{55B97F70-9891-4240-A5F0-33BB6564AD7C}" sibTransId="{6E2636AA-3292-4083-8554-E439866F8108}"/>
    <dgm:cxn modelId="{4EBF8D43-ED8B-438D-8D9D-5BC7505DA50B}" srcId="{7AF8262A-EC9C-4C27-B545-0712909F2659}" destId="{A005B293-A1A4-4DC0-B7F4-F8252842780A}" srcOrd="5" destOrd="0" parTransId="{6F7FC0B0-85BE-4C00-93BE-76C3FE55FB0D}" sibTransId="{A8EB0F2E-5A1A-4B73-8102-BB5626CF7934}"/>
    <dgm:cxn modelId="{B39EE90E-669F-459F-898F-41FAE9A4FADC}" type="presOf" srcId="{D7EA7F2D-0C79-4C97-BFAC-B9BCDA9A9BDA}" destId="{6D1F5E9A-6D1B-4731-B567-E88EF86187D8}" srcOrd="1" destOrd="0" presId="urn:microsoft.com/office/officeart/2005/8/layout/list1"/>
    <dgm:cxn modelId="{8DFC1B4B-8554-4A52-B672-476E0EA769DC}" type="presOf" srcId="{9A09C93D-1AFC-4735-8E08-5D222C29EA13}" destId="{0A05A727-911D-48D0-ACAA-3D54F8C6310A}" srcOrd="1" destOrd="0" presId="urn:microsoft.com/office/officeart/2005/8/layout/list1"/>
    <dgm:cxn modelId="{15E3B6E9-8C8F-4DAD-A51A-AA527DED5EA3}" type="presOf" srcId="{A005B293-A1A4-4DC0-B7F4-F8252842780A}" destId="{C14283C6-7C80-4480-BB35-5075B7BF4BD9}" srcOrd="0" destOrd="0" presId="urn:microsoft.com/office/officeart/2005/8/layout/list1"/>
    <dgm:cxn modelId="{ECC6A8EE-2FEB-4939-B62E-64289236FA15}" srcId="{7AF8262A-EC9C-4C27-B545-0712909F2659}" destId="{8E855A89-6BC0-46CD-B2AA-95C0498BA5ED}" srcOrd="6" destOrd="0" parTransId="{CC1BF877-FF8E-4148-AC8C-74C5CDE76D13}" sibTransId="{DCE8A083-D4E7-4C96-8537-E81619F995CF}"/>
    <dgm:cxn modelId="{58DA1CA2-B725-4F1B-A8E0-78307CFF9A3D}" type="presOf" srcId="{4361A06B-ED90-4F28-8D31-BA6571653341}" destId="{E71D2A30-B84D-432F-85B2-586C61EEC104}" srcOrd="0" destOrd="0" presId="urn:microsoft.com/office/officeart/2005/8/layout/list1"/>
    <dgm:cxn modelId="{7B02D585-8D17-4F39-B9AF-DD43E800B8DB}" type="presOf" srcId="{7AF8262A-EC9C-4C27-B545-0712909F2659}" destId="{F1548E9B-E064-4D2D-9A3A-2B6B8A315058}" srcOrd="0" destOrd="0" presId="urn:microsoft.com/office/officeart/2005/8/layout/list1"/>
    <dgm:cxn modelId="{0AE0D159-8691-4DB5-BB27-FA017C0F48BC}" type="presOf" srcId="{541F6FDF-E4CB-425E-AEF5-903AEC294A1B}" destId="{6F3AEC2E-921C-4626-AF82-04E799E293BE}" srcOrd="0" destOrd="0" presId="urn:microsoft.com/office/officeart/2005/8/layout/list1"/>
    <dgm:cxn modelId="{010AB103-5112-4E70-90DF-BF1A0E766213}" type="presOf" srcId="{62C5D8A5-8628-48C0-A6AB-4448279ADD9A}" destId="{DF10BDFC-38E8-406E-BD20-1D38BF136340}" srcOrd="1" destOrd="0" presId="urn:microsoft.com/office/officeart/2005/8/layout/list1"/>
    <dgm:cxn modelId="{79457B59-EF78-4962-9AC1-2BED71AE395E}" srcId="{7AF8262A-EC9C-4C27-B545-0712909F2659}" destId="{9A09C93D-1AFC-4735-8E08-5D222C29EA13}" srcOrd="1" destOrd="0" parTransId="{E6228676-3583-4791-9EE6-72665E12E246}" sibTransId="{6EDD1CE5-5212-4417-B786-F0E5A83E7968}"/>
    <dgm:cxn modelId="{A533E2C4-8AEB-46B9-8ED1-7635D49CAFE7}" type="presOf" srcId="{8E855A89-6BC0-46CD-B2AA-95C0498BA5ED}" destId="{F9B2D8FE-A02E-4FCE-9E5A-52C6FBA75997}" srcOrd="0" destOrd="0" presId="urn:microsoft.com/office/officeart/2005/8/layout/list1"/>
    <dgm:cxn modelId="{96E9E497-A6F9-41B8-A080-474E3CEB6710}" srcId="{62C5D8A5-8628-48C0-A6AB-4448279ADD9A}" destId="{4361A06B-ED90-4F28-8D31-BA6571653341}" srcOrd="0" destOrd="0" parTransId="{75CF924C-6ABF-4D51-853D-1B404D7333B7}" sibTransId="{2133162A-96EE-4996-B294-ACEFF280DFD7}"/>
    <dgm:cxn modelId="{3C2DB92E-8926-4A00-9B23-ECC3C6121193}" srcId="{7AF8262A-EC9C-4C27-B545-0712909F2659}" destId="{541F6FDF-E4CB-425E-AEF5-903AEC294A1B}" srcOrd="3" destOrd="0" parTransId="{B0B87A4F-8AB3-4F47-8776-1AC52239D2F4}" sibTransId="{12CAB1ED-D10C-4C73-9408-9CB32CBC4274}"/>
    <dgm:cxn modelId="{1CA85F08-C768-48D7-B41C-89CBE3F0A10D}" type="presOf" srcId="{9A09C93D-1AFC-4735-8E08-5D222C29EA13}" destId="{B93F95F3-BAEC-4219-8284-30B7FC6EB518}" srcOrd="0" destOrd="0" presId="urn:microsoft.com/office/officeart/2005/8/layout/list1"/>
    <dgm:cxn modelId="{9EC15C33-7329-415D-B08C-8A429936906F}" type="presOf" srcId="{22C84633-088F-4ACF-A9D5-8AB8DFAF82C7}" destId="{21997C10-C8CD-4CF5-A480-CDB7757BB3EC}" srcOrd="1" destOrd="0" presId="urn:microsoft.com/office/officeart/2005/8/layout/list1"/>
    <dgm:cxn modelId="{0845260E-90F7-4262-BBEA-B50A2F180C11}" srcId="{7AF8262A-EC9C-4C27-B545-0712909F2659}" destId="{22C84633-088F-4ACF-A9D5-8AB8DFAF82C7}" srcOrd="0" destOrd="0" parTransId="{87E1CE22-578E-4849-A1D4-75E9207AD7C6}" sibTransId="{2DEAFFBA-7601-4F40-86A0-4E9F24D4708B}"/>
    <dgm:cxn modelId="{E85C4DBC-0B7A-4CDB-99AC-F8C6DC2A4598}" type="presOf" srcId="{62C5D8A5-8628-48C0-A6AB-4448279ADD9A}" destId="{82CDA5E8-48B8-4E29-8336-6C5FD823BD2B}" srcOrd="0" destOrd="0" presId="urn:microsoft.com/office/officeart/2005/8/layout/list1"/>
    <dgm:cxn modelId="{D3E09C21-545B-46D1-891D-EB9FCEEDE26C}" type="presOf" srcId="{8E855A89-6BC0-46CD-B2AA-95C0498BA5ED}" destId="{9E5A6F51-2EE3-494A-B16C-E1B7C0086021}" srcOrd="1" destOrd="0" presId="urn:microsoft.com/office/officeart/2005/8/layout/list1"/>
    <dgm:cxn modelId="{FC9EFEB4-7421-4B85-ADCD-4A07A48DE8C4}" type="presOf" srcId="{22C84633-088F-4ACF-A9D5-8AB8DFAF82C7}" destId="{7CF332A2-C378-48E9-B48F-F2CE9189DA29}" srcOrd="0" destOrd="0" presId="urn:microsoft.com/office/officeart/2005/8/layout/list1"/>
    <dgm:cxn modelId="{1408A7DC-4BF8-45F1-AF46-E6308B7DF171}" srcId="{7AF8262A-EC9C-4C27-B545-0712909F2659}" destId="{D7EA7F2D-0C79-4C97-BFAC-B9BCDA9A9BDA}" srcOrd="2" destOrd="0" parTransId="{610F77EE-AE5E-49E3-91BB-7CBBD02CFC9A}" sibTransId="{552DAEFC-FB40-466D-BA01-43F0AB2926D1}"/>
    <dgm:cxn modelId="{86CEF067-2C1D-4CF5-A7C8-A83C74F4443B}" type="presOf" srcId="{A005B293-A1A4-4DC0-B7F4-F8252842780A}" destId="{98E4CD37-CA8C-4AE9-8B04-7C55A4E334B6}" srcOrd="1" destOrd="0" presId="urn:microsoft.com/office/officeart/2005/8/layout/list1"/>
    <dgm:cxn modelId="{2E6B080B-045C-42F3-8F12-06B29996B157}" type="presParOf" srcId="{F1548E9B-E064-4D2D-9A3A-2B6B8A315058}" destId="{146A88CE-3817-4A3A-8A9B-AE2BB7A2B6F8}" srcOrd="0" destOrd="0" presId="urn:microsoft.com/office/officeart/2005/8/layout/list1"/>
    <dgm:cxn modelId="{C3BDCDAA-3858-4EA8-B2BD-ED7A38D4BD30}" type="presParOf" srcId="{146A88CE-3817-4A3A-8A9B-AE2BB7A2B6F8}" destId="{7CF332A2-C378-48E9-B48F-F2CE9189DA29}" srcOrd="0" destOrd="0" presId="urn:microsoft.com/office/officeart/2005/8/layout/list1"/>
    <dgm:cxn modelId="{5F4E5FD8-5758-4ED7-988A-44BFD101894E}" type="presParOf" srcId="{146A88CE-3817-4A3A-8A9B-AE2BB7A2B6F8}" destId="{21997C10-C8CD-4CF5-A480-CDB7757BB3EC}" srcOrd="1" destOrd="0" presId="urn:microsoft.com/office/officeart/2005/8/layout/list1"/>
    <dgm:cxn modelId="{54ACFC0A-BD7C-4167-B139-F7268A2C0572}" type="presParOf" srcId="{F1548E9B-E064-4D2D-9A3A-2B6B8A315058}" destId="{596574B0-58FE-42E2-B345-247F517B87EA}" srcOrd="1" destOrd="0" presId="urn:microsoft.com/office/officeart/2005/8/layout/list1"/>
    <dgm:cxn modelId="{C656473F-2E78-4FB8-8736-6EF0F8FD7B6D}" type="presParOf" srcId="{F1548E9B-E064-4D2D-9A3A-2B6B8A315058}" destId="{842BA774-3A10-42FC-9871-BB10417D7495}" srcOrd="2" destOrd="0" presId="urn:microsoft.com/office/officeart/2005/8/layout/list1"/>
    <dgm:cxn modelId="{71851E20-4927-4BF9-BD6B-CE8FCDDFCFF6}" type="presParOf" srcId="{F1548E9B-E064-4D2D-9A3A-2B6B8A315058}" destId="{E7AF067F-D196-4506-927D-ABE32126BE8F}" srcOrd="3" destOrd="0" presId="urn:microsoft.com/office/officeart/2005/8/layout/list1"/>
    <dgm:cxn modelId="{AD15FA0A-4D4E-43C0-8D42-91D2CFE54F27}" type="presParOf" srcId="{F1548E9B-E064-4D2D-9A3A-2B6B8A315058}" destId="{49599512-3C14-4155-A2C8-6057AC088124}" srcOrd="4" destOrd="0" presId="urn:microsoft.com/office/officeart/2005/8/layout/list1"/>
    <dgm:cxn modelId="{E98E2D51-5581-4B7D-B74E-5C56BF893F9B}" type="presParOf" srcId="{49599512-3C14-4155-A2C8-6057AC088124}" destId="{B93F95F3-BAEC-4219-8284-30B7FC6EB518}" srcOrd="0" destOrd="0" presId="urn:microsoft.com/office/officeart/2005/8/layout/list1"/>
    <dgm:cxn modelId="{87E4D036-78FC-4BFE-AC69-B000C90DC4DB}" type="presParOf" srcId="{49599512-3C14-4155-A2C8-6057AC088124}" destId="{0A05A727-911D-48D0-ACAA-3D54F8C6310A}" srcOrd="1" destOrd="0" presId="urn:microsoft.com/office/officeart/2005/8/layout/list1"/>
    <dgm:cxn modelId="{B6449064-A18F-43B6-BD34-128FD580B30D}" type="presParOf" srcId="{F1548E9B-E064-4D2D-9A3A-2B6B8A315058}" destId="{F3B3BB45-FA4A-4FC8-930F-FCEF587828D8}" srcOrd="5" destOrd="0" presId="urn:microsoft.com/office/officeart/2005/8/layout/list1"/>
    <dgm:cxn modelId="{911D2CF4-A81E-44F7-B35B-C0D6C994D441}" type="presParOf" srcId="{F1548E9B-E064-4D2D-9A3A-2B6B8A315058}" destId="{D91ECB2A-85D8-4C57-970C-A05AEADE5497}" srcOrd="6" destOrd="0" presId="urn:microsoft.com/office/officeart/2005/8/layout/list1"/>
    <dgm:cxn modelId="{7EE1C4CD-296F-4C5C-B75E-6EEC762B7374}" type="presParOf" srcId="{F1548E9B-E064-4D2D-9A3A-2B6B8A315058}" destId="{170F8BCD-A8B2-4415-A9C5-78DD29189650}" srcOrd="7" destOrd="0" presId="urn:microsoft.com/office/officeart/2005/8/layout/list1"/>
    <dgm:cxn modelId="{C8E4EFCA-9CFA-4C97-BD8C-C2537FA5C6DC}" type="presParOf" srcId="{F1548E9B-E064-4D2D-9A3A-2B6B8A315058}" destId="{5ADE19D2-BD9E-4C86-9EC7-36492FA8C1F4}" srcOrd="8" destOrd="0" presId="urn:microsoft.com/office/officeart/2005/8/layout/list1"/>
    <dgm:cxn modelId="{37E08501-BAB1-4ADC-8AAD-78CD28D09946}" type="presParOf" srcId="{5ADE19D2-BD9E-4C86-9EC7-36492FA8C1F4}" destId="{179117C5-83F9-43D6-9583-E723FEB8D7CF}" srcOrd="0" destOrd="0" presId="urn:microsoft.com/office/officeart/2005/8/layout/list1"/>
    <dgm:cxn modelId="{E6EF1F40-D8F3-4EB6-B016-65898AC7237C}" type="presParOf" srcId="{5ADE19D2-BD9E-4C86-9EC7-36492FA8C1F4}" destId="{6D1F5E9A-6D1B-4731-B567-E88EF86187D8}" srcOrd="1" destOrd="0" presId="urn:microsoft.com/office/officeart/2005/8/layout/list1"/>
    <dgm:cxn modelId="{787E048B-4303-4148-9C69-299344E01E1F}" type="presParOf" srcId="{F1548E9B-E064-4D2D-9A3A-2B6B8A315058}" destId="{7DA51087-176F-4E71-8827-D09D99095353}" srcOrd="9" destOrd="0" presId="urn:microsoft.com/office/officeart/2005/8/layout/list1"/>
    <dgm:cxn modelId="{8C517617-FF92-4631-9FE8-A64C7E6AA04B}" type="presParOf" srcId="{F1548E9B-E064-4D2D-9A3A-2B6B8A315058}" destId="{81BC9A93-0513-4753-8C39-4DB2078E7B46}" srcOrd="10" destOrd="0" presId="urn:microsoft.com/office/officeart/2005/8/layout/list1"/>
    <dgm:cxn modelId="{D4F972B6-3184-471F-8945-8EDF94231E33}" type="presParOf" srcId="{F1548E9B-E064-4D2D-9A3A-2B6B8A315058}" destId="{24793BF7-D8FB-4BC5-B094-BDCC8D4DF090}" srcOrd="11" destOrd="0" presId="urn:microsoft.com/office/officeart/2005/8/layout/list1"/>
    <dgm:cxn modelId="{30030D65-9AE3-413B-8929-BDB81962EED2}" type="presParOf" srcId="{F1548E9B-E064-4D2D-9A3A-2B6B8A315058}" destId="{142F5FBE-1657-4A48-BDF2-34AEEC4A6529}" srcOrd="12" destOrd="0" presId="urn:microsoft.com/office/officeart/2005/8/layout/list1"/>
    <dgm:cxn modelId="{98662969-8165-43B3-A1B7-FE41F8B5B6F9}" type="presParOf" srcId="{142F5FBE-1657-4A48-BDF2-34AEEC4A6529}" destId="{6F3AEC2E-921C-4626-AF82-04E799E293BE}" srcOrd="0" destOrd="0" presId="urn:microsoft.com/office/officeart/2005/8/layout/list1"/>
    <dgm:cxn modelId="{578C4E7C-F59F-4BF4-9664-16994DBD0C93}" type="presParOf" srcId="{142F5FBE-1657-4A48-BDF2-34AEEC4A6529}" destId="{B477C30D-DF88-4EBA-A8B1-8BEF287A1275}" srcOrd="1" destOrd="0" presId="urn:microsoft.com/office/officeart/2005/8/layout/list1"/>
    <dgm:cxn modelId="{372D955B-F16E-46E2-A0A4-6C3C0BBDDFF9}" type="presParOf" srcId="{F1548E9B-E064-4D2D-9A3A-2B6B8A315058}" destId="{E575845F-EBD1-44DE-8EF5-2D986CE91661}" srcOrd="13" destOrd="0" presId="urn:microsoft.com/office/officeart/2005/8/layout/list1"/>
    <dgm:cxn modelId="{5F4BD22B-9054-4A34-A6D8-12EDC67242D3}" type="presParOf" srcId="{F1548E9B-E064-4D2D-9A3A-2B6B8A315058}" destId="{1033F70C-5EFA-450B-92E7-62FB17452887}" srcOrd="14" destOrd="0" presId="urn:microsoft.com/office/officeart/2005/8/layout/list1"/>
    <dgm:cxn modelId="{B96F367C-6C11-4C87-A6A4-B456BF085397}" type="presParOf" srcId="{F1548E9B-E064-4D2D-9A3A-2B6B8A315058}" destId="{5F918B50-90C7-4DBC-8FDA-F2803BBA3345}" srcOrd="15" destOrd="0" presId="urn:microsoft.com/office/officeart/2005/8/layout/list1"/>
    <dgm:cxn modelId="{46B9ABDC-FEC0-4C06-A0D9-508501DA9C81}" type="presParOf" srcId="{F1548E9B-E064-4D2D-9A3A-2B6B8A315058}" destId="{AA1EAD11-8913-486E-82C2-23257BD24651}" srcOrd="16" destOrd="0" presId="urn:microsoft.com/office/officeart/2005/8/layout/list1"/>
    <dgm:cxn modelId="{11D29594-A4A8-4440-98CA-3ABFC99041E0}" type="presParOf" srcId="{AA1EAD11-8913-486E-82C2-23257BD24651}" destId="{82CDA5E8-48B8-4E29-8336-6C5FD823BD2B}" srcOrd="0" destOrd="0" presId="urn:microsoft.com/office/officeart/2005/8/layout/list1"/>
    <dgm:cxn modelId="{937E2401-8976-4C8C-BC94-DB467538AE07}" type="presParOf" srcId="{AA1EAD11-8913-486E-82C2-23257BD24651}" destId="{DF10BDFC-38E8-406E-BD20-1D38BF136340}" srcOrd="1" destOrd="0" presId="urn:microsoft.com/office/officeart/2005/8/layout/list1"/>
    <dgm:cxn modelId="{0D3993BA-A80D-499D-87D2-65A33717921D}" type="presParOf" srcId="{F1548E9B-E064-4D2D-9A3A-2B6B8A315058}" destId="{FF2DC0F5-38B0-47DB-978B-BF417E1F87E7}" srcOrd="17" destOrd="0" presId="urn:microsoft.com/office/officeart/2005/8/layout/list1"/>
    <dgm:cxn modelId="{675ECB79-9A51-4A30-8E80-8AD0D13DA189}" type="presParOf" srcId="{F1548E9B-E064-4D2D-9A3A-2B6B8A315058}" destId="{E71D2A30-B84D-432F-85B2-586C61EEC104}" srcOrd="18" destOrd="0" presId="urn:microsoft.com/office/officeart/2005/8/layout/list1"/>
    <dgm:cxn modelId="{C6C13884-E953-465A-A908-5171BA8F3093}" type="presParOf" srcId="{F1548E9B-E064-4D2D-9A3A-2B6B8A315058}" destId="{997B4930-A06D-4B0D-9E34-203867385DF1}" srcOrd="19" destOrd="0" presId="urn:microsoft.com/office/officeart/2005/8/layout/list1"/>
    <dgm:cxn modelId="{F0C5ADDF-7534-4358-A37E-99FAE141A8B0}" type="presParOf" srcId="{F1548E9B-E064-4D2D-9A3A-2B6B8A315058}" destId="{692C64F8-1134-4925-9D88-EE02F676A8A1}" srcOrd="20" destOrd="0" presId="urn:microsoft.com/office/officeart/2005/8/layout/list1"/>
    <dgm:cxn modelId="{705C9BBE-E2A7-4953-A816-22947BC17386}" type="presParOf" srcId="{692C64F8-1134-4925-9D88-EE02F676A8A1}" destId="{C14283C6-7C80-4480-BB35-5075B7BF4BD9}" srcOrd="0" destOrd="0" presId="urn:microsoft.com/office/officeart/2005/8/layout/list1"/>
    <dgm:cxn modelId="{4C645AB4-DE6E-469D-995A-A2095A34F3BA}" type="presParOf" srcId="{692C64F8-1134-4925-9D88-EE02F676A8A1}" destId="{98E4CD37-CA8C-4AE9-8B04-7C55A4E334B6}" srcOrd="1" destOrd="0" presId="urn:microsoft.com/office/officeart/2005/8/layout/list1"/>
    <dgm:cxn modelId="{8DFF578E-C790-4676-885A-B62EDC36C6BD}" type="presParOf" srcId="{F1548E9B-E064-4D2D-9A3A-2B6B8A315058}" destId="{4C4CD2E5-18C5-4503-A527-B0651D1AED11}" srcOrd="21" destOrd="0" presId="urn:microsoft.com/office/officeart/2005/8/layout/list1"/>
    <dgm:cxn modelId="{44A009FA-037E-4D20-A8EA-AEB86364EEE8}" type="presParOf" srcId="{F1548E9B-E064-4D2D-9A3A-2B6B8A315058}" destId="{458D31F9-7B87-44FB-AE3A-1A4BDA00B3F2}" srcOrd="22" destOrd="0" presId="urn:microsoft.com/office/officeart/2005/8/layout/list1"/>
    <dgm:cxn modelId="{629B0E02-5515-4921-949E-296DAB0A3489}" type="presParOf" srcId="{F1548E9B-E064-4D2D-9A3A-2B6B8A315058}" destId="{C0531553-3E3D-4770-86C4-8FEEB063A21B}" srcOrd="23" destOrd="0" presId="urn:microsoft.com/office/officeart/2005/8/layout/list1"/>
    <dgm:cxn modelId="{6A5DFAB4-8CC5-4851-8662-FE6CA51FFB28}" type="presParOf" srcId="{F1548E9B-E064-4D2D-9A3A-2B6B8A315058}" destId="{90C1F4CD-0644-44F9-8204-A611DBFE1751}" srcOrd="24" destOrd="0" presId="urn:microsoft.com/office/officeart/2005/8/layout/list1"/>
    <dgm:cxn modelId="{45835F3F-640D-484B-905A-2CD07471CFA6}" type="presParOf" srcId="{90C1F4CD-0644-44F9-8204-A611DBFE1751}" destId="{F9B2D8FE-A02E-4FCE-9E5A-52C6FBA75997}" srcOrd="0" destOrd="0" presId="urn:microsoft.com/office/officeart/2005/8/layout/list1"/>
    <dgm:cxn modelId="{9A54EDBC-CE1E-4202-B7F9-5952835406E7}" type="presParOf" srcId="{90C1F4CD-0644-44F9-8204-A611DBFE1751}" destId="{9E5A6F51-2EE3-494A-B16C-E1B7C0086021}" srcOrd="1" destOrd="0" presId="urn:microsoft.com/office/officeart/2005/8/layout/list1"/>
    <dgm:cxn modelId="{8DCF863B-C628-4C1C-876B-0910E288B9A6}" type="presParOf" srcId="{F1548E9B-E064-4D2D-9A3A-2B6B8A315058}" destId="{048B5460-A8E2-4C08-86B9-D058CD2D4418}" srcOrd="25" destOrd="0" presId="urn:microsoft.com/office/officeart/2005/8/layout/list1"/>
    <dgm:cxn modelId="{DCFB6FC7-964F-4978-9B0B-01630233CF29}" type="presParOf" srcId="{F1548E9B-E064-4D2D-9A3A-2B6B8A315058}" destId="{FBAE8E7A-1F01-4669-A645-DD794C4C5868}"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BA774-3A10-42FC-9871-BB10417D7495}">
      <dsp:nvSpPr>
        <dsp:cNvPr id="0" name=""/>
        <dsp:cNvSpPr/>
      </dsp:nvSpPr>
      <dsp:spPr>
        <a:xfrm>
          <a:off x="0" y="333199"/>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21997C10-C8CD-4CF5-A480-CDB7757BB3EC}">
      <dsp:nvSpPr>
        <dsp:cNvPr id="0" name=""/>
        <dsp:cNvSpPr/>
      </dsp:nvSpPr>
      <dsp:spPr>
        <a:xfrm>
          <a:off x="472440" y="126559"/>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Introduction</a:t>
          </a:r>
        </a:p>
      </dsp:txBody>
      <dsp:txXfrm>
        <a:off x="492615" y="146734"/>
        <a:ext cx="6573810" cy="372930"/>
      </dsp:txXfrm>
    </dsp:sp>
    <dsp:sp modelId="{D91ECB2A-85D8-4C57-970C-A05AEADE5497}">
      <dsp:nvSpPr>
        <dsp:cNvPr id="0" name=""/>
        <dsp:cNvSpPr/>
      </dsp:nvSpPr>
      <dsp:spPr>
        <a:xfrm>
          <a:off x="0" y="968239"/>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0A05A727-911D-48D0-ACAA-3D54F8C6310A}">
      <dsp:nvSpPr>
        <dsp:cNvPr id="0" name=""/>
        <dsp:cNvSpPr/>
      </dsp:nvSpPr>
      <dsp:spPr>
        <a:xfrm>
          <a:off x="472440" y="761599"/>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Project Selection</a:t>
          </a:r>
        </a:p>
      </dsp:txBody>
      <dsp:txXfrm>
        <a:off x="492615" y="781774"/>
        <a:ext cx="6573810" cy="372930"/>
      </dsp:txXfrm>
    </dsp:sp>
    <dsp:sp modelId="{81BC9A93-0513-4753-8C39-4DB2078E7B46}">
      <dsp:nvSpPr>
        <dsp:cNvPr id="0" name=""/>
        <dsp:cNvSpPr/>
      </dsp:nvSpPr>
      <dsp:spPr>
        <a:xfrm>
          <a:off x="0" y="1603279"/>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6D1F5E9A-6D1B-4731-B567-E88EF86187D8}">
      <dsp:nvSpPr>
        <dsp:cNvPr id="0" name=""/>
        <dsp:cNvSpPr/>
      </dsp:nvSpPr>
      <dsp:spPr>
        <a:xfrm>
          <a:off x="472440" y="1396639"/>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Process Selection</a:t>
          </a:r>
        </a:p>
      </dsp:txBody>
      <dsp:txXfrm>
        <a:off x="492615" y="1416814"/>
        <a:ext cx="6573810" cy="372930"/>
      </dsp:txXfrm>
    </dsp:sp>
    <dsp:sp modelId="{1033F70C-5EFA-450B-92E7-62FB17452887}">
      <dsp:nvSpPr>
        <dsp:cNvPr id="0" name=""/>
        <dsp:cNvSpPr/>
      </dsp:nvSpPr>
      <dsp:spPr>
        <a:xfrm>
          <a:off x="0" y="2238319"/>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B477C30D-DF88-4EBA-A8B1-8BEF287A1275}">
      <dsp:nvSpPr>
        <dsp:cNvPr id="0" name=""/>
        <dsp:cNvSpPr/>
      </dsp:nvSpPr>
      <dsp:spPr>
        <a:xfrm>
          <a:off x="472440" y="2031680"/>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Raw Material Selection</a:t>
          </a:r>
        </a:p>
      </dsp:txBody>
      <dsp:txXfrm>
        <a:off x="492615" y="2051855"/>
        <a:ext cx="6573810" cy="372930"/>
      </dsp:txXfrm>
    </dsp:sp>
    <dsp:sp modelId="{E71D2A30-B84D-432F-85B2-586C61EEC104}">
      <dsp:nvSpPr>
        <dsp:cNvPr id="0" name=""/>
        <dsp:cNvSpPr/>
      </dsp:nvSpPr>
      <dsp:spPr>
        <a:xfrm>
          <a:off x="0" y="2873360"/>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3332" tIns="291592" rIns="733332" bIns="99568" numCol="1" spcCol="1270" anchor="t" anchorCtr="0">
          <a:noAutofit/>
        </a:bodyPr>
        <a:lstStyle/>
        <a:p>
          <a:pPr marL="114300" lvl="1" indent="-114300" algn="l" defTabSz="622300">
            <a:lnSpc>
              <a:spcPct val="90000"/>
            </a:lnSpc>
            <a:spcBef>
              <a:spcPct val="0"/>
            </a:spcBef>
            <a:spcAft>
              <a:spcPct val="15000"/>
            </a:spcAft>
            <a:buChar char="••"/>
          </a:pPr>
          <a:endParaRPr lang="en-PK" sz="1400" kern="1200" dirty="0"/>
        </a:p>
      </dsp:txBody>
      <dsp:txXfrm>
        <a:off x="0" y="2873360"/>
        <a:ext cx="9448799" cy="352800"/>
      </dsp:txXfrm>
    </dsp:sp>
    <dsp:sp modelId="{DF10BDFC-38E8-406E-BD20-1D38BF136340}">
      <dsp:nvSpPr>
        <dsp:cNvPr id="0" name=""/>
        <dsp:cNvSpPr/>
      </dsp:nvSpPr>
      <dsp:spPr>
        <a:xfrm>
          <a:off x="472440" y="2666720"/>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Process</a:t>
          </a:r>
          <a:r>
            <a:rPr lang="en-US" sz="1600" kern="1200" baseline="0" dirty="0">
              <a:solidFill>
                <a:srgbClr val="002060"/>
              </a:solidFill>
              <a:latin typeface="Arial"/>
              <a:ea typeface="+mn-ea"/>
              <a:cs typeface="Arial"/>
            </a:rPr>
            <a:t> Flow Diagram and PFD description</a:t>
          </a:r>
          <a:endParaRPr lang="en-US" sz="1600" kern="1200" dirty="0">
            <a:solidFill>
              <a:srgbClr val="002060"/>
            </a:solidFill>
            <a:latin typeface="Arial"/>
            <a:ea typeface="+mn-ea"/>
            <a:cs typeface="Arial"/>
          </a:endParaRPr>
        </a:p>
      </dsp:txBody>
      <dsp:txXfrm>
        <a:off x="492615" y="2686895"/>
        <a:ext cx="6573810" cy="372930"/>
      </dsp:txXfrm>
    </dsp:sp>
    <dsp:sp modelId="{458D31F9-7B87-44FB-AE3A-1A4BDA00B3F2}">
      <dsp:nvSpPr>
        <dsp:cNvPr id="0" name=""/>
        <dsp:cNvSpPr/>
      </dsp:nvSpPr>
      <dsp:spPr>
        <a:xfrm>
          <a:off x="0" y="3508400"/>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98E4CD37-CA8C-4AE9-8B04-7C55A4E334B6}">
      <dsp:nvSpPr>
        <dsp:cNvPr id="0" name=""/>
        <dsp:cNvSpPr/>
      </dsp:nvSpPr>
      <dsp:spPr>
        <a:xfrm>
          <a:off x="472440" y="3301759"/>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Capacity Selection</a:t>
          </a:r>
        </a:p>
      </dsp:txBody>
      <dsp:txXfrm>
        <a:off x="492615" y="3321934"/>
        <a:ext cx="6573810" cy="372930"/>
      </dsp:txXfrm>
    </dsp:sp>
    <dsp:sp modelId="{FBAE8E7A-1F01-4669-A645-DD794C4C5868}">
      <dsp:nvSpPr>
        <dsp:cNvPr id="0" name=""/>
        <dsp:cNvSpPr/>
      </dsp:nvSpPr>
      <dsp:spPr>
        <a:xfrm>
          <a:off x="0" y="4143440"/>
          <a:ext cx="9448799" cy="352800"/>
        </a:xfrm>
        <a:prstGeom prst="rect">
          <a:avLst/>
        </a:prstGeom>
        <a:solidFill>
          <a:srgbClr val="000000">
            <a:alpha val="90000"/>
            <a:tint val="40000"/>
            <a:hueOff val="0"/>
            <a:satOff val="0"/>
            <a:lumOff val="0"/>
            <a:alphaOff val="0"/>
          </a:srgbClr>
        </a:solidFill>
        <a:ln w="12700" cap="flat" cmpd="sng" algn="ctr">
          <a:solidFill>
            <a:srgbClr val="00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9E5A6F51-2EE3-494A-B16C-E1B7C0086021}">
      <dsp:nvSpPr>
        <dsp:cNvPr id="0" name=""/>
        <dsp:cNvSpPr/>
      </dsp:nvSpPr>
      <dsp:spPr>
        <a:xfrm>
          <a:off x="472440" y="3936800"/>
          <a:ext cx="6614160" cy="413280"/>
        </a:xfrm>
        <a:prstGeom prst="roundRect">
          <a:avLst/>
        </a:prstGeom>
        <a:solidFill>
          <a:srgbClr val="FFFFFF">
            <a:hueOff val="0"/>
            <a:satOff val="0"/>
            <a:lumOff val="0"/>
            <a:alphaOff val="0"/>
          </a:srgbClr>
        </a:solidFill>
        <a:ln w="12700" cap="flat" cmpd="sng" algn="ctr">
          <a:solidFill>
            <a:srgbClr val="000000">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0000" tIns="0" rIns="250000" bIns="0" numCol="1" spcCol="1270" anchor="ctr" anchorCtr="0">
          <a:noAutofit/>
        </a:bodyPr>
        <a:lstStyle/>
        <a:p>
          <a:pPr lvl="0" algn="l" defTabSz="711200">
            <a:lnSpc>
              <a:spcPct val="90000"/>
            </a:lnSpc>
            <a:spcBef>
              <a:spcPct val="0"/>
            </a:spcBef>
            <a:spcAft>
              <a:spcPct val="35000"/>
            </a:spcAft>
            <a:buNone/>
          </a:pPr>
          <a:r>
            <a:rPr lang="en-US" sz="1600" kern="1200" dirty="0">
              <a:solidFill>
                <a:srgbClr val="002060"/>
              </a:solidFill>
              <a:latin typeface="Arial"/>
              <a:ea typeface="+mn-ea"/>
              <a:cs typeface="Arial"/>
            </a:rPr>
            <a:t>Material and Energy Balance</a:t>
          </a:r>
        </a:p>
      </dsp:txBody>
      <dsp:txXfrm>
        <a:off x="492615" y="3956975"/>
        <a:ext cx="6573810"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47F476-161E-4A04-A0FB-965A0EEB43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2E49AB-875B-42C8-941C-0DE0DBD2D3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66B955-9ABA-47D4-BA0F-43D209E6DE06}" type="datetimeFigureOut">
              <a:rPr lang="en-US" smtClean="0"/>
              <a:t>11/12/2025</a:t>
            </a:fld>
            <a:endParaRPr lang="en-US" dirty="0"/>
          </a:p>
        </p:txBody>
      </p:sp>
      <p:sp>
        <p:nvSpPr>
          <p:cNvPr id="4" name="Footer Placeholder 3">
            <a:extLst>
              <a:ext uri="{FF2B5EF4-FFF2-40B4-BE49-F238E27FC236}">
                <a16:creationId xmlns:a16="http://schemas.microsoft.com/office/drawing/2014/main" id="{23EFBA4A-EC84-4A1C-951D-F76333FEEC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085306-E124-4DA3-9455-10E28A78FE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FAA0D8-202C-4D3D-887A-429ECB6FFB65}" type="slidenum">
              <a:rPr lang="en-US" smtClean="0"/>
              <a:t>‹#›</a:t>
            </a:fld>
            <a:endParaRPr lang="en-US" dirty="0"/>
          </a:p>
        </p:txBody>
      </p:sp>
    </p:spTree>
    <p:extLst>
      <p:ext uri="{BB962C8B-B14F-4D97-AF65-F5344CB8AC3E}">
        <p14:creationId xmlns:p14="http://schemas.microsoft.com/office/powerpoint/2010/main" val="223340698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3B77EF04-6424-4B70-94D1-FC932CBBDD9B}" type="datetimeFigureOut">
              <a:rPr lang="en-US" noProof="0" smtClean="0"/>
              <a:t>11/12/2025</a:t>
            </a:fld>
            <a:endParaRPr lang="en-US" noProof="0"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38049E5-7B53-4E85-8972-7D6C4BCE5BB9}" type="slidenum">
              <a:rPr lang="en-US" noProof="0" smtClean="0"/>
              <a:t>‹#›</a:t>
            </a:fld>
            <a:endParaRPr lang="en-US" noProof="0" dirty="0"/>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0129581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fld id="{3B77EF04-6424-4B70-94D1-FC932CBBDD9B}" type="datetimeFigureOut">
              <a:rPr lang="en-US" noProof="0" smtClean="0"/>
              <a:pPr/>
              <a:t>11/12/2025</a:t>
            </a:fld>
            <a:endParaRPr lang="en-US" noProof="0"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fld id="{B38049E5-7B53-4E85-8972-7D6C4BCE5BB9}" type="slidenum">
              <a:rPr lang="en-US" noProof="0" smtClean="0"/>
              <a:pPr/>
              <a:t>‹#›</a:t>
            </a:fld>
            <a:endParaRPr lang="en-US" noProof="0" dirty="0"/>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50295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B38049E5-7B53-4E85-8972-7D6C4BCE5BB9}" type="slidenum">
              <a:rPr lang="en-US" noProof="0" smtClean="0"/>
              <a:t>‹#›</a:t>
            </a:fld>
            <a:endParaRPr lang="en-US" noProof="0" dirty="0"/>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941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fld id="{3B77EF04-6424-4B70-94D1-FC932CBBDD9B}" type="datetimeFigureOut">
              <a:rPr lang="en-US" noProof="0" smtClean="0"/>
              <a:pPr/>
              <a:t>11/12/2025</a:t>
            </a:fld>
            <a:endParaRPr lang="en-US" noProof="0" dirty="0"/>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8449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fld id="{3B77EF04-6424-4B70-94D1-FC932CBBDD9B}" type="datetimeFigureOut">
              <a:rPr lang="en-US" noProof="0" smtClean="0"/>
              <a:pPr/>
              <a:t>11/12/2025</a:t>
            </a:fld>
            <a:endParaRPr lang="en-US" noProof="0" dirty="0"/>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a:t>Click to edit Master text styles</a:t>
            </a:r>
          </a:p>
          <a:p>
            <a:pPr marL="0" lvl="1" indent="0" algn="ctr">
              <a:buNone/>
            </a:pPr>
            <a:r>
              <a:rPr lang="en-US" noProof="0"/>
              <a:t>Second level</a:t>
            </a:r>
          </a:p>
          <a:p>
            <a:pPr marL="0" lvl="2" indent="0" algn="ctr">
              <a:buNone/>
            </a:pPr>
            <a:r>
              <a:rPr lang="en-US" noProof="0"/>
              <a:t>Third level</a:t>
            </a:r>
          </a:p>
          <a:p>
            <a:pPr marL="0" lvl="3" indent="0" algn="ctr">
              <a:buNone/>
            </a:pPr>
            <a:r>
              <a:rPr lang="en-US" noProof="0"/>
              <a:t>Fourth level</a:t>
            </a:r>
          </a:p>
          <a:p>
            <a:pPr marL="0" lvl="4" indent="0" algn="ctr">
              <a:buNone/>
            </a:pPr>
            <a:r>
              <a:rPr lang="en-US" noProof="0"/>
              <a:t>Fifth level</a:t>
            </a:r>
          </a:p>
        </p:txBody>
      </p:sp>
    </p:spTree>
    <p:extLst>
      <p:ext uri="{BB962C8B-B14F-4D97-AF65-F5344CB8AC3E}">
        <p14:creationId xmlns:p14="http://schemas.microsoft.com/office/powerpoint/2010/main" val="168660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accent3"/>
              </a:solidFill>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fld id="{3B77EF04-6424-4B70-94D1-FC932CBBDD9B}" type="datetimeFigureOut">
              <a:rPr lang="en-US" noProof="0" smtClean="0"/>
              <a:pPr/>
              <a:t>11/12/2025</a:t>
            </a:fld>
            <a:endParaRPr lang="en-US" noProof="0" dirty="0"/>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82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fld id="{3B77EF04-6424-4B70-94D1-FC932CBBDD9B}" type="datetimeFigureOut">
              <a:rPr lang="en-US" noProof="0" smtClean="0"/>
              <a:pPr/>
              <a:t>11/12/2025</a:t>
            </a:fld>
            <a:endParaRPr lang="en-US" noProof="0" dirty="0"/>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789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3B77EF04-6424-4B70-94D1-FC932CBBDD9B}" type="datetimeFigureOut">
              <a:rPr lang="en-US" noProof="0" smtClean="0"/>
              <a:t>11/12/2025</a:t>
            </a:fld>
            <a:endParaRPr lang="en-US" noProof="0"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921443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6" name="Footer Placeholder 5"/>
          <p:cNvSpPr>
            <a:spLocks noGrp="1"/>
          </p:cNvSpPr>
          <p:nvPr>
            <p:ph type="ftr" sz="quarter" idx="11"/>
          </p:nvPr>
        </p:nvSpPr>
        <p:spPr/>
        <p:txBody>
          <a:bodyPr/>
          <a:lstStyle/>
          <a:p>
            <a:r>
              <a:rPr lang="en-US" noProof="0" dirty="0"/>
              <a:t>Add a footer </a:t>
            </a:r>
          </a:p>
        </p:txBody>
      </p:sp>
      <p:sp>
        <p:nvSpPr>
          <p:cNvPr id="7" name="Slide Number Placeholder 6"/>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296885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8" name="Footer Placeholder 7"/>
          <p:cNvSpPr>
            <a:spLocks noGrp="1"/>
          </p:cNvSpPr>
          <p:nvPr>
            <p:ph type="ftr" sz="quarter" idx="11"/>
          </p:nvPr>
        </p:nvSpPr>
        <p:spPr/>
        <p:txBody>
          <a:bodyPr/>
          <a:lstStyle/>
          <a:p>
            <a:r>
              <a:rPr lang="en-US" noProof="0" dirty="0"/>
              <a:t>Add a footer </a:t>
            </a:r>
          </a:p>
        </p:txBody>
      </p:sp>
      <p:sp>
        <p:nvSpPr>
          <p:cNvPr id="9" name="Slide Number Placeholder 8"/>
          <p:cNvSpPr>
            <a:spLocks noGrp="1"/>
          </p:cNvSpPr>
          <p:nvPr>
            <p:ph type="sldNum" sz="quarter" idx="12"/>
          </p:nvPr>
        </p:nvSpPr>
        <p:spPr/>
        <p:txBody>
          <a:bodyPr/>
          <a:lstStyle/>
          <a:p>
            <a:fld id="{B38049E5-7B53-4E85-8972-7D6C4BCE5BB9}" type="slidenum">
              <a:rPr lang="en-US" noProof="0" smtClean="0"/>
              <a:t>‹#›</a:t>
            </a:fld>
            <a:endParaRPr lang="en-US" noProof="0" dirty="0"/>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740073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4" name="Footer Placeholder 3"/>
          <p:cNvSpPr>
            <a:spLocks noGrp="1"/>
          </p:cNvSpPr>
          <p:nvPr>
            <p:ph type="ftr" sz="quarter" idx="11"/>
          </p:nvPr>
        </p:nvSpPr>
        <p:spPr/>
        <p:txBody>
          <a:bodyPr/>
          <a:lstStyle/>
          <a:p>
            <a:r>
              <a:rPr lang="en-US" noProof="0" dirty="0"/>
              <a:t>Add a footer </a:t>
            </a:r>
          </a:p>
        </p:txBody>
      </p:sp>
      <p:sp>
        <p:nvSpPr>
          <p:cNvPr id="5" name="Slide Number Placeholder 4"/>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257254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4" name="Footer Placeholder 3"/>
          <p:cNvSpPr>
            <a:spLocks noGrp="1"/>
          </p:cNvSpPr>
          <p:nvPr>
            <p:ph type="ftr" sz="quarter" idx="11"/>
          </p:nvPr>
        </p:nvSpPr>
        <p:spPr/>
        <p:txBody>
          <a:bodyPr/>
          <a:lstStyle/>
          <a:p>
            <a:r>
              <a:rPr lang="en-US" noProof="0" dirty="0"/>
              <a:t>Add a footer </a:t>
            </a:r>
          </a:p>
        </p:txBody>
      </p:sp>
      <p:sp>
        <p:nvSpPr>
          <p:cNvPr id="5" name="Slide Number Placeholder 4"/>
          <p:cNvSpPr>
            <a:spLocks noGrp="1"/>
          </p:cNvSpPr>
          <p:nvPr>
            <p:ph type="sldNum" sz="quarter" idx="12"/>
          </p:nvPr>
        </p:nvSpPr>
        <p:spPr/>
        <p:txBody>
          <a:bodyPr/>
          <a:lstStyle/>
          <a:p>
            <a:fld id="{B38049E5-7B53-4E85-8972-7D6C4BCE5BB9}" type="slidenum">
              <a:rPr lang="en-US" noProof="0" smtClean="0"/>
              <a:t>‹#›</a:t>
            </a:fld>
            <a:endParaRPr lang="en-US" noProof="0" dirty="0"/>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a:t>Click to edit Master text styles</a:t>
            </a:r>
          </a:p>
        </p:txBody>
      </p:sp>
    </p:spTree>
    <p:extLst>
      <p:ext uri="{BB962C8B-B14F-4D97-AF65-F5344CB8AC3E}">
        <p14:creationId xmlns:p14="http://schemas.microsoft.com/office/powerpoint/2010/main" val="2266103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77EF04-6424-4B70-94D1-FC932CBBDD9B}" type="datetimeFigureOut">
              <a:rPr lang="en-US" noProof="0" smtClean="0"/>
              <a:t>11/12/2025</a:t>
            </a:fld>
            <a:endParaRPr lang="en-US" noProof="0" dirty="0"/>
          </a:p>
        </p:txBody>
      </p:sp>
      <p:sp>
        <p:nvSpPr>
          <p:cNvPr id="3" name="Footer Placeholder 2"/>
          <p:cNvSpPr>
            <a:spLocks noGrp="1"/>
          </p:cNvSpPr>
          <p:nvPr>
            <p:ph type="ftr" sz="quarter" idx="11"/>
          </p:nvPr>
        </p:nvSpPr>
        <p:spPr/>
        <p:txBody>
          <a:bodyPr/>
          <a:lstStyle/>
          <a:p>
            <a:r>
              <a:rPr lang="en-US" noProof="0" dirty="0"/>
              <a:t>Add a footer </a:t>
            </a:r>
          </a:p>
        </p:txBody>
      </p:sp>
      <p:sp>
        <p:nvSpPr>
          <p:cNvPr id="4" name="Slide Number Placeholder 3"/>
          <p:cNvSpPr>
            <a:spLocks noGrp="1"/>
          </p:cNvSpPr>
          <p:nvPr>
            <p:ph type="sldNum" sz="quarter" idx="12"/>
          </p:nvPr>
        </p:nvSpPr>
        <p:spPr/>
        <p:txBody>
          <a:bodyPr/>
          <a:lstStyle/>
          <a:p>
            <a:fld id="{B38049E5-7B53-4E85-8972-7D6C4BCE5BB9}" type="slidenum">
              <a:rPr lang="en-US" noProof="0" smtClean="0"/>
              <a:t>‹#›</a:t>
            </a:fld>
            <a:endParaRPr lang="en-US" noProof="0" dirty="0"/>
          </a:p>
        </p:txBody>
      </p:sp>
    </p:spTree>
    <p:extLst>
      <p:ext uri="{BB962C8B-B14F-4D97-AF65-F5344CB8AC3E}">
        <p14:creationId xmlns:p14="http://schemas.microsoft.com/office/powerpoint/2010/main" val="3990140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3B77EF04-6424-4B70-94D1-FC932CBBDD9B}" type="datetimeFigureOut">
              <a:rPr lang="en-US" noProof="0" smtClean="0"/>
              <a:t>11/12/2025</a:t>
            </a:fld>
            <a:endParaRPr lang="en-US" noProof="0"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noProof="0" dirty="0"/>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38049E5-7B53-4E85-8972-7D6C4BCE5BB9}" type="slidenum">
              <a:rPr lang="en-US" noProof="0" smtClean="0"/>
              <a:t>‹#›</a:t>
            </a:fld>
            <a:endParaRPr lang="en-US" noProof="0" dirty="0"/>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56303306"/>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62" r:id="rId3"/>
    <p:sldLayoutId id="2147483668" r:id="rId4"/>
    <p:sldLayoutId id="2147483671" r:id="rId5"/>
    <p:sldLayoutId id="2147483669" r:id="rId6"/>
    <p:sldLayoutId id="2147483672" r:id="rId7"/>
    <p:sldLayoutId id="2147483663" r:id="rId8"/>
    <p:sldLayoutId id="2147483664" r:id="rId9"/>
    <p:sldLayoutId id="2147483665" r:id="rId10"/>
    <p:sldLayoutId id="2147483666" r:id="rId11"/>
    <p:sldLayoutId id="2147483673" r:id="rId12"/>
    <p:sldLayoutId id="2147483667"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2.emf"/></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3.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4.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openxmlformats.org/officeDocument/2006/relationships/slideLayout" Target="../slideLayouts/slideLayout3.xml"/><Relationship Id="rId1" Type="http://schemas.openxmlformats.org/officeDocument/2006/relationships/vmlDrawing" Target="../drawings/vmlDrawing8.vml"/><Relationship Id="rId4" Type="http://schemas.openxmlformats.org/officeDocument/2006/relationships/image" Target="../media/image15.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16.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1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889FE-7B85-40C7-8441-909223A9B382}"/>
              </a:ext>
            </a:extLst>
          </p:cNvPr>
          <p:cNvSpPr>
            <a:spLocks noGrp="1"/>
          </p:cNvSpPr>
          <p:nvPr>
            <p:ph type="ctrTitle"/>
          </p:nvPr>
        </p:nvSpPr>
        <p:spPr/>
        <p:txBody>
          <a:bodyPr/>
          <a:lstStyle/>
          <a:p>
            <a:r>
              <a:rPr lang="en-GB" sz="6000" b="1" dirty="0">
                <a:latin typeface="Calibri" panose="020F0502020204030204" pitchFamily="34" charset="0"/>
                <a:ea typeface="Segoe UI Black" panose="020B0A02040204020203" pitchFamily="34" charset="0"/>
                <a:cs typeface="Calibri" panose="020F0502020204030204" pitchFamily="34" charset="0"/>
              </a:rPr>
              <a:t>Carbon Capture And Storage Using Two Stage Aqueous Mineral Carbonation </a:t>
            </a:r>
            <a:endParaRPr lang="en-US" sz="6000" dirty="0">
              <a:latin typeface="Calibri" panose="020F0502020204030204" pitchFamily="34" charset="0"/>
              <a:ea typeface="Segoe UI Black" panose="020B0A02040204020203" pitchFamily="34" charset="0"/>
              <a:cs typeface="Calibri" panose="020F0502020204030204" pitchFamily="34" charset="0"/>
            </a:endParaRPr>
          </a:p>
        </p:txBody>
      </p:sp>
      <p:sp>
        <p:nvSpPr>
          <p:cNvPr id="3" name="Subtitle 2">
            <a:extLst>
              <a:ext uri="{FF2B5EF4-FFF2-40B4-BE49-F238E27FC236}">
                <a16:creationId xmlns:a16="http://schemas.microsoft.com/office/drawing/2014/main" id="{B87DC842-2DF4-46F3-AEC5-E38386DA6887}"/>
              </a:ext>
            </a:extLst>
          </p:cNvPr>
          <p:cNvSpPr>
            <a:spLocks noGrp="1"/>
          </p:cNvSpPr>
          <p:nvPr>
            <p:ph type="subTitle" idx="1"/>
          </p:nvPr>
        </p:nvSpPr>
        <p:spPr/>
        <p:txBody>
          <a:bodyPr/>
          <a:lstStyle/>
          <a:p>
            <a:endParaRPr lang="en-US" dirty="0"/>
          </a:p>
          <a:p>
            <a:endParaRPr lang="en-US" dirty="0"/>
          </a:p>
        </p:txBody>
      </p:sp>
    </p:spTree>
    <p:extLst>
      <p:ext uri="{BB962C8B-B14F-4D97-AF65-F5344CB8AC3E}">
        <p14:creationId xmlns:p14="http://schemas.microsoft.com/office/powerpoint/2010/main" val="2461678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A6F85-1B8D-4D98-8683-027DE6E481C3}"/>
              </a:ext>
            </a:extLst>
          </p:cNvPr>
          <p:cNvSpPr>
            <a:spLocks noGrp="1"/>
          </p:cNvSpPr>
          <p:nvPr>
            <p:ph type="ctrTitle"/>
          </p:nvPr>
        </p:nvSpPr>
        <p:spPr>
          <a:xfrm>
            <a:off x="1397978" y="1151796"/>
            <a:ext cx="9354689" cy="3047671"/>
          </a:xfrm>
        </p:spPr>
        <p:txBody>
          <a:bodyPr/>
          <a:lstStyle/>
          <a:p>
            <a:r>
              <a:rPr lang="en-US" sz="4800" dirty="0"/>
              <a:t>Supervisor:      Dr. Imran Rashid</a:t>
            </a:r>
            <a:br>
              <a:rPr lang="en-US" sz="4800" dirty="0"/>
            </a:br>
            <a:r>
              <a:rPr lang="en-US" sz="4800" u="sng" dirty="0"/>
              <a:t>Group Members</a:t>
            </a:r>
            <a:r>
              <a:rPr lang="en-US" sz="4800" dirty="0"/>
              <a:t/>
            </a:r>
            <a:br>
              <a:rPr lang="en-US" sz="4800" dirty="0"/>
            </a:br>
            <a:r>
              <a:rPr lang="en-US" sz="4400" dirty="0" smtClean="0"/>
              <a:t>Waleed Akbar</a:t>
            </a:r>
            <a:r>
              <a:rPr lang="en-US" sz="4400" dirty="0" smtClean="0"/>
              <a:t>  </a:t>
            </a:r>
            <a:r>
              <a:rPr lang="en-US" sz="4400" dirty="0"/>
              <a:t>(</a:t>
            </a:r>
            <a:r>
              <a:rPr lang="en-US" sz="4400" dirty="0" smtClean="0"/>
              <a:t>2018-CH-253)</a:t>
            </a:r>
            <a:r>
              <a:rPr lang="en-US" sz="4400" dirty="0"/>
              <a:t/>
            </a:r>
            <a:br>
              <a:rPr lang="en-US" sz="4400" dirty="0"/>
            </a:br>
            <a:r>
              <a:rPr lang="en-US" sz="4400" dirty="0"/>
              <a:t>M. Shaiq Gohar   (</a:t>
            </a:r>
            <a:r>
              <a:rPr lang="en-US" sz="4400" dirty="0" smtClean="0"/>
              <a:t>2018-CH-245</a:t>
            </a:r>
            <a:r>
              <a:rPr lang="en-US" sz="4400" dirty="0"/>
              <a:t>)</a:t>
            </a:r>
            <a:br>
              <a:rPr lang="en-US" sz="4400" dirty="0"/>
            </a:br>
            <a:r>
              <a:rPr lang="en-US" sz="4400" dirty="0"/>
              <a:t>Sarmad Hashmi  (</a:t>
            </a:r>
            <a:r>
              <a:rPr lang="en-US" sz="4400" dirty="0" smtClean="0"/>
              <a:t>2018-CH-275</a:t>
            </a:r>
            <a:r>
              <a:rPr lang="en-US" sz="4400" dirty="0"/>
              <a:t>)</a:t>
            </a:r>
            <a:endParaRPr lang="en-PK" sz="4800" dirty="0"/>
          </a:p>
        </p:txBody>
      </p:sp>
      <p:sp>
        <p:nvSpPr>
          <p:cNvPr id="3" name="Subtitle 2">
            <a:extLst>
              <a:ext uri="{FF2B5EF4-FFF2-40B4-BE49-F238E27FC236}">
                <a16:creationId xmlns:a16="http://schemas.microsoft.com/office/drawing/2014/main" id="{9317313E-3448-4FED-BD73-D7F92623E941}"/>
              </a:ext>
            </a:extLst>
          </p:cNvPr>
          <p:cNvSpPr>
            <a:spLocks noGrp="1"/>
          </p:cNvSpPr>
          <p:nvPr>
            <p:ph type="subTitle" idx="1"/>
          </p:nvPr>
        </p:nvSpPr>
        <p:spPr>
          <a:xfrm>
            <a:off x="1397977" y="5706204"/>
            <a:ext cx="9504485" cy="277086"/>
          </a:xfrm>
        </p:spPr>
        <p:txBody>
          <a:bodyPr>
            <a:normAutofit fontScale="55000" lnSpcReduction="20000"/>
          </a:bodyPr>
          <a:lstStyle/>
          <a:p>
            <a:r>
              <a:rPr lang="en-US" dirty="0"/>
              <a:t>Department of chemical polymers and composite material engineering</a:t>
            </a:r>
            <a:endParaRPr lang="en-PK" dirty="0"/>
          </a:p>
        </p:txBody>
      </p:sp>
    </p:spTree>
    <p:extLst>
      <p:ext uri="{BB962C8B-B14F-4D97-AF65-F5344CB8AC3E}">
        <p14:creationId xmlns:p14="http://schemas.microsoft.com/office/powerpoint/2010/main" val="920625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laid">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pPr algn="ctr"/>
            <a:r>
              <a:rPr lang="en-US" dirty="0"/>
              <a:t>Contents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lstStyle/>
          <a:p>
            <a:pPr marL="0" indent="0">
              <a:buNone/>
            </a:pPr>
            <a:endParaRPr lang="en-US" dirty="0"/>
          </a:p>
          <a:p>
            <a:endParaRPr lang="en-US" dirty="0"/>
          </a:p>
        </p:txBody>
      </p:sp>
      <p:graphicFrame>
        <p:nvGraphicFramePr>
          <p:cNvPr id="4" name="Diagram 3">
            <a:extLst>
              <a:ext uri="{FF2B5EF4-FFF2-40B4-BE49-F238E27FC236}">
                <a16:creationId xmlns:a16="http://schemas.microsoft.com/office/drawing/2014/main" id="{CE0C323B-8D02-443B-9918-DC0BDA84DDDE}"/>
              </a:ext>
            </a:extLst>
          </p:cNvPr>
          <p:cNvGraphicFramePr/>
          <p:nvPr>
            <p:extLst>
              <p:ext uri="{D42A27DB-BD31-4B8C-83A1-F6EECF244321}">
                <p14:modId xmlns:p14="http://schemas.microsoft.com/office/powerpoint/2010/main" val="1334398324"/>
              </p:ext>
            </p:extLst>
          </p:nvPr>
        </p:nvGraphicFramePr>
        <p:xfrm>
          <a:off x="1371600" y="1811867"/>
          <a:ext cx="9448800" cy="46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4535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2EBA1-71BA-4AD9-813D-CA01C6EB45CB}"/>
              </a:ext>
            </a:extLst>
          </p:cNvPr>
          <p:cNvSpPr>
            <a:spLocks noGrp="1"/>
          </p:cNvSpPr>
          <p:nvPr>
            <p:ph type="title"/>
          </p:nvPr>
        </p:nvSpPr>
        <p:spPr/>
        <p:txBody>
          <a:bodyPr/>
          <a:lstStyle/>
          <a:p>
            <a:pPr algn="ctr"/>
            <a:r>
              <a:rPr lang="en-US" dirty="0"/>
              <a:t>Introduction</a:t>
            </a:r>
            <a:endParaRPr lang="en-PK" dirty="0"/>
          </a:p>
        </p:txBody>
      </p:sp>
      <p:sp>
        <p:nvSpPr>
          <p:cNvPr id="3" name="Content Placeholder 2">
            <a:extLst>
              <a:ext uri="{FF2B5EF4-FFF2-40B4-BE49-F238E27FC236}">
                <a16:creationId xmlns:a16="http://schemas.microsoft.com/office/drawing/2014/main" id="{94FB3FFE-7D30-4667-91D5-53874F814B91}"/>
              </a:ext>
            </a:extLst>
          </p:cNvPr>
          <p:cNvSpPr>
            <a:spLocks noGrp="1"/>
          </p:cNvSpPr>
          <p:nvPr>
            <p:ph idx="1"/>
          </p:nvPr>
        </p:nvSpPr>
        <p:spPr>
          <a:xfrm>
            <a:off x="1371600" y="2048933"/>
            <a:ext cx="9601200" cy="3818467"/>
          </a:xfrm>
        </p:spPr>
        <p:txBody>
          <a:bodyPr/>
          <a:lstStyle/>
          <a:p>
            <a:pPr algn="just"/>
            <a:r>
              <a:rPr lang="en-US" sz="2800" b="0" i="0" dirty="0">
                <a:effectLst/>
                <a:latin typeface="Roboto"/>
              </a:rPr>
              <a:t>CO</a:t>
            </a:r>
            <a:r>
              <a:rPr lang="en-US" sz="2800" b="0" i="0" baseline="-25000" dirty="0">
                <a:effectLst/>
                <a:latin typeface="Roboto"/>
              </a:rPr>
              <a:t>2</a:t>
            </a:r>
            <a:r>
              <a:rPr lang="en-US" sz="2800" b="0" i="0" dirty="0">
                <a:effectLst/>
                <a:latin typeface="Roboto"/>
              </a:rPr>
              <a:t> is the most important greenhouse gas. Green house gasses are the one which absorbs and emit radiant energy within the thermal infrared range. So their excessive amount in atmosphere is dangerous</a:t>
            </a:r>
          </a:p>
          <a:p>
            <a:pPr algn="just"/>
            <a:r>
              <a:rPr lang="en-US" altLang="en-US" sz="2800" dirty="0"/>
              <a:t>Carbon sequestration is the long-term removal, capture or sequestration of carbon dioxide from the atmosphere to slow or reverse atmospheric CO</a:t>
            </a:r>
            <a:r>
              <a:rPr lang="en-US" altLang="en-US" sz="2000" dirty="0"/>
              <a:t>2</a:t>
            </a:r>
            <a:r>
              <a:rPr lang="en-US" altLang="en-US" sz="2800" dirty="0"/>
              <a:t> pollution and to mitigate or reverse global warming</a:t>
            </a:r>
            <a:endParaRPr lang="en-PK" sz="2800" dirty="0"/>
          </a:p>
        </p:txBody>
      </p:sp>
    </p:spTree>
    <p:extLst>
      <p:ext uri="{BB962C8B-B14F-4D97-AF65-F5344CB8AC3E}">
        <p14:creationId xmlns:p14="http://schemas.microsoft.com/office/powerpoint/2010/main" val="648015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dirty="0">
                <a:latin typeface="Impact" panose="020B0806030902050204" pitchFamily="34" charset="0"/>
              </a:rPr>
              <a:t>Project selection</a:t>
            </a:r>
            <a:endParaRPr lang="en-US" cap="none" dirty="0">
              <a:latin typeface="Impact" panose="020B0806030902050204" pitchFamily="34" charset="0"/>
            </a:endParaRPr>
          </a:p>
        </p:txBody>
      </p:sp>
    </p:spTree>
    <p:extLst>
      <p:ext uri="{BB962C8B-B14F-4D97-AF65-F5344CB8AC3E}">
        <p14:creationId xmlns:p14="http://schemas.microsoft.com/office/powerpoint/2010/main" val="268254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openDmnd">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BDD75-99FA-475D-AFEE-DEEE5BF9AF2E}"/>
              </a:ext>
            </a:extLst>
          </p:cNvPr>
          <p:cNvSpPr>
            <a:spLocks noGrp="1"/>
          </p:cNvSpPr>
          <p:nvPr>
            <p:ph type="title"/>
          </p:nvPr>
        </p:nvSpPr>
        <p:spPr/>
        <p:txBody>
          <a:bodyPr/>
          <a:lstStyle/>
          <a:p>
            <a:r>
              <a:rPr lang="en-US" dirty="0"/>
              <a:t>Why we select this project</a:t>
            </a:r>
            <a:endParaRPr lang="en-PK" dirty="0"/>
          </a:p>
        </p:txBody>
      </p:sp>
      <p:sp>
        <p:nvSpPr>
          <p:cNvPr id="4" name="Content Placeholder 2">
            <a:extLst>
              <a:ext uri="{FF2B5EF4-FFF2-40B4-BE49-F238E27FC236}">
                <a16:creationId xmlns:a16="http://schemas.microsoft.com/office/drawing/2014/main" id="{9D6AF164-C948-47ED-8EB7-79FD8F5C243B}"/>
              </a:ext>
            </a:extLst>
          </p:cNvPr>
          <p:cNvSpPr>
            <a:spLocks noGrp="1"/>
          </p:cNvSpPr>
          <p:nvPr>
            <p:ph idx="1"/>
          </p:nvPr>
        </p:nvSpPr>
        <p:spPr>
          <a:xfrm>
            <a:off x="1371600" y="1484313"/>
            <a:ext cx="9601200" cy="4383087"/>
          </a:xfrm>
        </p:spPr>
        <p:txBody>
          <a:bodyPr/>
          <a:lstStyle/>
          <a:p>
            <a:pPr algn="just" eaLnBrk="1" hangingPunct="1">
              <a:defRPr/>
            </a:pPr>
            <a:r>
              <a:rPr lang="en-US" b="1" dirty="0">
                <a:solidFill>
                  <a:srgbClr val="263374"/>
                </a:solidFill>
                <a:latin typeface="Eras Bold ITC" pitchFamily="34" charset="0"/>
                <a:ea typeface="Arial Unicode MS" pitchFamily="34" charset="-128"/>
                <a:cs typeface="Arial Unicode MS" pitchFamily="34" charset="-128"/>
              </a:rPr>
              <a:t>By </a:t>
            </a:r>
            <a:r>
              <a:rPr lang="en-US" b="1" dirty="0">
                <a:solidFill>
                  <a:srgbClr val="8E0036"/>
                </a:solidFill>
                <a:latin typeface="Eras Bold ITC" pitchFamily="34" charset="0"/>
                <a:ea typeface="Arial Unicode MS" pitchFamily="34" charset="-128"/>
                <a:cs typeface="Arial Unicode MS" pitchFamily="34" charset="-128"/>
              </a:rPr>
              <a:t>2050</a:t>
            </a:r>
            <a:r>
              <a:rPr lang="en-US" b="1" dirty="0">
                <a:solidFill>
                  <a:srgbClr val="263374"/>
                </a:solidFill>
                <a:latin typeface="Eras Bold ITC" pitchFamily="34" charset="0"/>
                <a:ea typeface="Arial Unicode MS" pitchFamily="34" charset="-128"/>
                <a:cs typeface="Arial Unicode MS" pitchFamily="34" charset="-128"/>
              </a:rPr>
              <a:t>, </a:t>
            </a:r>
            <a:r>
              <a:rPr lang="en-US" b="1" dirty="0">
                <a:solidFill>
                  <a:srgbClr val="0B246B"/>
                </a:solidFill>
                <a:latin typeface="Eras Bold ITC" pitchFamily="34" charset="0"/>
                <a:ea typeface="Arial Unicode MS" pitchFamily="34" charset="-128"/>
                <a:cs typeface="Arial Unicode MS" pitchFamily="34" charset="-128"/>
              </a:rPr>
              <a:t>global population will rise from</a:t>
            </a:r>
            <a:r>
              <a:rPr lang="en-US" b="1" dirty="0">
                <a:solidFill>
                  <a:srgbClr val="0B246B"/>
                </a:solidFill>
                <a:latin typeface="Eras Bold ITC" pitchFamily="34" charset="0"/>
              </a:rPr>
              <a:t> </a:t>
            </a:r>
          </a:p>
          <a:p>
            <a:pPr marL="0" indent="0" algn="just" eaLnBrk="1" hangingPunct="1">
              <a:buFontTx/>
              <a:buNone/>
              <a:defRPr/>
            </a:pPr>
            <a:r>
              <a:rPr lang="en-US" sz="2000" b="1" dirty="0">
                <a:solidFill>
                  <a:srgbClr val="0B246B"/>
                </a:solidFill>
                <a:latin typeface="Eras Bold ITC" pitchFamily="34" charset="0"/>
              </a:rPr>
              <a:t>  </a:t>
            </a:r>
          </a:p>
          <a:p>
            <a:pPr marL="0" indent="0" algn="just" eaLnBrk="1" hangingPunct="1">
              <a:buFontTx/>
              <a:buNone/>
              <a:defRPr/>
            </a:pPr>
            <a:r>
              <a:rPr lang="en-US" sz="2800" b="1" dirty="0">
                <a:solidFill>
                  <a:srgbClr val="0B246B"/>
                </a:solidFill>
                <a:latin typeface="Eras Bold ITC" pitchFamily="34" charset="0"/>
                <a:ea typeface="Arial Unicode MS" pitchFamily="34" charset="-128"/>
                <a:cs typeface="Arial Unicode MS" pitchFamily="34" charset="-128"/>
              </a:rPr>
              <a:t>   &amp; </a:t>
            </a:r>
          </a:p>
          <a:p>
            <a:pPr marL="0" indent="0" algn="just" eaLnBrk="1" hangingPunct="1">
              <a:buFontTx/>
              <a:buNone/>
              <a:defRPr/>
            </a:pPr>
            <a:r>
              <a:rPr lang="en-US" sz="2800" b="1" dirty="0">
                <a:solidFill>
                  <a:srgbClr val="0B246B"/>
                </a:solidFill>
                <a:latin typeface="Eras Bold ITC" pitchFamily="34" charset="0"/>
                <a:ea typeface="Arial Unicode MS" pitchFamily="34" charset="-128"/>
                <a:cs typeface="Arial Unicode MS" pitchFamily="34" charset="-128"/>
              </a:rPr>
              <a:t>the World</a:t>
            </a:r>
            <a:r>
              <a:rPr lang="en-US" sz="2800" b="1" dirty="0">
                <a:solidFill>
                  <a:srgbClr val="2D23AF"/>
                </a:solidFill>
                <a:latin typeface="Eras Bold ITC" pitchFamily="34" charset="0"/>
                <a:ea typeface="Arial Unicode MS" pitchFamily="34" charset="-128"/>
                <a:cs typeface="Arial Unicode MS" pitchFamily="34" charset="-128"/>
              </a:rPr>
              <a:t> </a:t>
            </a:r>
            <a:r>
              <a:rPr lang="en-US" sz="2800" b="1" dirty="0">
                <a:solidFill>
                  <a:srgbClr val="8E0036"/>
                </a:solidFill>
                <a:latin typeface="Eras Bold ITC" pitchFamily="34" charset="0"/>
                <a:ea typeface="Arial Unicode MS" pitchFamily="34" charset="-128"/>
                <a:cs typeface="Arial Unicode MS" pitchFamily="34" charset="-128"/>
              </a:rPr>
              <a:t>enter demand</a:t>
            </a:r>
            <a:r>
              <a:rPr lang="en-US" sz="2800" b="1" dirty="0">
                <a:solidFill>
                  <a:srgbClr val="800000"/>
                </a:solidFill>
                <a:latin typeface="Eras Bold ITC" pitchFamily="34" charset="0"/>
                <a:ea typeface="Arial Unicode MS" pitchFamily="34" charset="-128"/>
                <a:cs typeface="Arial Unicode MS" pitchFamily="34" charset="-128"/>
              </a:rPr>
              <a:t> </a:t>
            </a:r>
            <a:r>
              <a:rPr lang="en-US" sz="2800" b="1" dirty="0">
                <a:solidFill>
                  <a:srgbClr val="0B246B"/>
                </a:solidFill>
                <a:latin typeface="Eras Bold ITC" pitchFamily="34" charset="0"/>
                <a:ea typeface="Arial Unicode MS" pitchFamily="34" charset="-128"/>
                <a:cs typeface="Arial Unicode MS" pitchFamily="34" charset="-128"/>
              </a:rPr>
              <a:t>is expected to increase by</a:t>
            </a:r>
            <a:r>
              <a:rPr lang="en-US" sz="2800" b="1" dirty="0">
                <a:solidFill>
                  <a:srgbClr val="0000A4"/>
                </a:solidFill>
                <a:latin typeface="Eras Bold ITC" pitchFamily="34" charset="0"/>
                <a:ea typeface="Arial Unicode MS" pitchFamily="34" charset="-128"/>
                <a:cs typeface="Arial Unicode MS" pitchFamily="34" charset="-128"/>
              </a:rPr>
              <a:t>          </a:t>
            </a:r>
            <a:r>
              <a:rPr lang="en-US" sz="2800" b="1" dirty="0">
                <a:solidFill>
                  <a:srgbClr val="8E0036"/>
                </a:solidFill>
                <a:latin typeface="Eras Bold ITC" pitchFamily="34" charset="0"/>
                <a:ea typeface="Arial Unicode MS" pitchFamily="34" charset="-128"/>
                <a:cs typeface="Arial Unicode MS" pitchFamily="34" charset="-128"/>
              </a:rPr>
              <a:t>50% </a:t>
            </a:r>
            <a:r>
              <a:rPr lang="en-US" sz="2800" b="1" dirty="0">
                <a:solidFill>
                  <a:srgbClr val="0B246B"/>
                </a:solidFill>
                <a:latin typeface="Eras Bold ITC" pitchFamily="34" charset="0"/>
                <a:ea typeface="Arial Unicode MS" pitchFamily="34" charset="-128"/>
                <a:cs typeface="Arial Unicode MS" pitchFamily="34" charset="-128"/>
              </a:rPr>
              <a:t>over the next</a:t>
            </a:r>
            <a:r>
              <a:rPr lang="en-US" sz="2800" b="1" dirty="0">
                <a:solidFill>
                  <a:srgbClr val="0000A4"/>
                </a:solidFill>
                <a:latin typeface="Eras Bold ITC" pitchFamily="34" charset="0"/>
                <a:ea typeface="Arial Unicode MS" pitchFamily="34" charset="-128"/>
                <a:cs typeface="Arial Unicode MS" pitchFamily="34" charset="-128"/>
              </a:rPr>
              <a:t> </a:t>
            </a:r>
            <a:r>
              <a:rPr lang="en-US" sz="2800" b="1" dirty="0">
                <a:solidFill>
                  <a:srgbClr val="8E0036"/>
                </a:solidFill>
                <a:latin typeface="Eras Bold ITC" pitchFamily="34" charset="0"/>
                <a:ea typeface="Arial Unicode MS" pitchFamily="34" charset="-128"/>
                <a:cs typeface="Arial Unicode MS" pitchFamily="34" charset="-128"/>
              </a:rPr>
              <a:t>20</a:t>
            </a:r>
            <a:r>
              <a:rPr lang="en-US" sz="2800" b="1" dirty="0">
                <a:solidFill>
                  <a:srgbClr val="0000A4"/>
                </a:solidFill>
                <a:latin typeface="Eras Bold ITC" pitchFamily="34" charset="0"/>
                <a:ea typeface="Arial Unicode MS" pitchFamily="34" charset="-128"/>
                <a:cs typeface="Arial Unicode MS" pitchFamily="34" charset="-128"/>
              </a:rPr>
              <a:t> </a:t>
            </a:r>
            <a:r>
              <a:rPr lang="en-US" sz="2800" b="1" dirty="0">
                <a:solidFill>
                  <a:srgbClr val="263374"/>
                </a:solidFill>
                <a:latin typeface="Eras Bold ITC" pitchFamily="34" charset="0"/>
                <a:ea typeface="Arial Unicode MS" pitchFamily="34" charset="-128"/>
                <a:cs typeface="Arial Unicode MS" pitchFamily="34" charset="-128"/>
              </a:rPr>
              <a:t>years.</a:t>
            </a:r>
          </a:p>
          <a:p>
            <a:pPr algn="just">
              <a:defRPr/>
            </a:pPr>
            <a:r>
              <a:rPr lang="en-US" sz="2800" b="0" i="0" dirty="0">
                <a:effectLst/>
                <a:latin typeface="Roboto"/>
              </a:rPr>
              <a:t>According to the recent Panel on Climate Change, global greenhouse gas (GHG) emissions must be reduced by 50 to 80 percent to avoid dramatic consequences of global warming.</a:t>
            </a:r>
          </a:p>
          <a:p>
            <a:pPr marL="0" indent="0" algn="just" eaLnBrk="1" hangingPunct="1">
              <a:buFontTx/>
              <a:buNone/>
              <a:defRPr/>
            </a:pPr>
            <a:endParaRPr lang="en-US" sz="2800" dirty="0"/>
          </a:p>
        </p:txBody>
      </p:sp>
      <p:pic>
        <p:nvPicPr>
          <p:cNvPr id="5" name="Picture 3" descr="1">
            <a:extLst>
              <a:ext uri="{FF2B5EF4-FFF2-40B4-BE49-F238E27FC236}">
                <a16:creationId xmlns:a16="http://schemas.microsoft.com/office/drawing/2014/main" id="{AE569557-571E-46D7-9D27-6F542AA29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600" y="1913468"/>
            <a:ext cx="4984750" cy="1049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25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90">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9119-2BCA-4D61-946A-630721ADF73D}"/>
              </a:ext>
            </a:extLst>
          </p:cNvPr>
          <p:cNvSpPr>
            <a:spLocks noGrp="1"/>
          </p:cNvSpPr>
          <p:nvPr>
            <p:ph type="title"/>
          </p:nvPr>
        </p:nvSpPr>
        <p:spPr/>
        <p:txBody>
          <a:bodyPr/>
          <a:lstStyle/>
          <a:p>
            <a:r>
              <a:rPr lang="en-US" altLang="en-US" sz="4800" dirty="0"/>
              <a:t>International Energy Agency, 2009</a:t>
            </a:r>
            <a:br>
              <a:rPr lang="en-US" altLang="en-US" sz="4800" dirty="0"/>
            </a:br>
            <a:endParaRPr lang="en-PK" dirty="0"/>
          </a:p>
        </p:txBody>
      </p:sp>
      <p:sp>
        <p:nvSpPr>
          <p:cNvPr id="6" name="Content Placeholder 5">
            <a:extLst>
              <a:ext uri="{FF2B5EF4-FFF2-40B4-BE49-F238E27FC236}">
                <a16:creationId xmlns:a16="http://schemas.microsoft.com/office/drawing/2014/main" id="{A52CAA20-55AE-4886-A113-3D493F846EEF}"/>
              </a:ext>
            </a:extLst>
          </p:cNvPr>
          <p:cNvSpPr>
            <a:spLocks noGrp="1"/>
          </p:cNvSpPr>
          <p:nvPr>
            <p:ph idx="1"/>
          </p:nvPr>
        </p:nvSpPr>
        <p:spPr>
          <a:xfrm>
            <a:off x="1371600" y="1558344"/>
            <a:ext cx="9601200" cy="4613856"/>
          </a:xfrm>
        </p:spPr>
        <p:txBody>
          <a:bodyPr/>
          <a:lstStyle/>
          <a:p>
            <a:pPr marL="0" indent="0">
              <a:buNone/>
            </a:pPr>
            <a:r>
              <a:rPr lang="en-US" dirty="0"/>
              <a:t>To avoid emission of CO2 in atmosphere we chose this</a:t>
            </a:r>
          </a:p>
          <a:p>
            <a:pPr marL="0" indent="0">
              <a:buNone/>
            </a:pPr>
            <a:endParaRPr lang="en-PK" dirty="0"/>
          </a:p>
        </p:txBody>
      </p:sp>
      <p:pic>
        <p:nvPicPr>
          <p:cNvPr id="7" name="Picture 6">
            <a:extLst>
              <a:ext uri="{FF2B5EF4-FFF2-40B4-BE49-F238E27FC236}">
                <a16:creationId xmlns:a16="http://schemas.microsoft.com/office/drawing/2014/main" id="{C70E551E-DA29-44CD-8CA9-148B335F4E4C}"/>
              </a:ext>
            </a:extLst>
          </p:cNvPr>
          <p:cNvPicPr>
            <a:picLocks noChangeAspect="1"/>
          </p:cNvPicPr>
          <p:nvPr/>
        </p:nvPicPr>
        <p:blipFill>
          <a:blip r:embed="rId2"/>
          <a:stretch>
            <a:fillRect/>
          </a:stretch>
        </p:blipFill>
        <p:spPr>
          <a:xfrm>
            <a:off x="2108870" y="1931831"/>
            <a:ext cx="7974259" cy="3606568"/>
          </a:xfrm>
          <a:prstGeom prst="rect">
            <a:avLst/>
          </a:prstGeom>
        </p:spPr>
      </p:pic>
    </p:spTree>
    <p:extLst>
      <p:ext uri="{BB962C8B-B14F-4D97-AF65-F5344CB8AC3E}">
        <p14:creationId xmlns:p14="http://schemas.microsoft.com/office/powerpoint/2010/main" val="2762163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dirty="0">
                <a:latin typeface="Impact" panose="020B0806030902050204" pitchFamily="34" charset="0"/>
              </a:rPr>
              <a:t>Process selection</a:t>
            </a:r>
            <a:endParaRPr lang="en-US" cap="none" dirty="0">
              <a:latin typeface="Impact" panose="020B0806030902050204" pitchFamily="34" charset="0"/>
            </a:endParaRPr>
          </a:p>
        </p:txBody>
      </p:sp>
    </p:spTree>
    <p:extLst>
      <p:ext uri="{BB962C8B-B14F-4D97-AF65-F5344CB8AC3E}">
        <p14:creationId xmlns:p14="http://schemas.microsoft.com/office/powerpoint/2010/main" val="2496843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90">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3696-8E73-44F9-BBF4-1176EEB73411}"/>
              </a:ext>
            </a:extLst>
          </p:cNvPr>
          <p:cNvSpPr>
            <a:spLocks noGrp="1"/>
          </p:cNvSpPr>
          <p:nvPr>
            <p:ph type="title"/>
          </p:nvPr>
        </p:nvSpPr>
        <p:spPr/>
        <p:txBody>
          <a:bodyPr/>
          <a:lstStyle/>
          <a:p>
            <a:r>
              <a:rPr lang="en-US" dirty="0"/>
              <a:t>We choose double stage carbonation</a:t>
            </a:r>
            <a:endParaRPr lang="en-PK" dirty="0"/>
          </a:p>
        </p:txBody>
      </p:sp>
      <p:pic>
        <p:nvPicPr>
          <p:cNvPr id="4" name="Picture 8" descr="General overview of direct and indirect mineral carbonation [29]. ">
            <a:extLst>
              <a:ext uri="{FF2B5EF4-FFF2-40B4-BE49-F238E27FC236}">
                <a16:creationId xmlns:a16="http://schemas.microsoft.com/office/drawing/2014/main" id="{F13232D5-DF89-48FD-A89A-43F65F3D4A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0169" y="1918952"/>
            <a:ext cx="7173532" cy="4253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0693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dirty="0">
                <a:latin typeface="Impact" panose="020B0806030902050204" pitchFamily="34" charset="0"/>
              </a:rPr>
              <a:t>Raw material selection</a:t>
            </a:r>
            <a:endParaRPr lang="en-US" cap="none" dirty="0">
              <a:latin typeface="Impact" panose="020B0806030902050204" pitchFamily="34" charset="0"/>
            </a:endParaRPr>
          </a:p>
        </p:txBody>
      </p:sp>
    </p:spTree>
    <p:extLst>
      <p:ext uri="{BB962C8B-B14F-4D97-AF65-F5344CB8AC3E}">
        <p14:creationId xmlns:p14="http://schemas.microsoft.com/office/powerpoint/2010/main" val="243959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33D0-040C-42FB-98CB-13EE755DA939}"/>
              </a:ext>
            </a:extLst>
          </p:cNvPr>
          <p:cNvSpPr>
            <a:spLocks noGrp="1"/>
          </p:cNvSpPr>
          <p:nvPr>
            <p:ph type="title"/>
          </p:nvPr>
        </p:nvSpPr>
        <p:spPr/>
        <p:txBody>
          <a:bodyPr/>
          <a:lstStyle/>
          <a:p>
            <a:r>
              <a:rPr lang="en-US" dirty="0"/>
              <a:t>We select </a:t>
            </a:r>
            <a:r>
              <a:rPr lang="en-US" dirty="0" err="1"/>
              <a:t>Lizardite</a:t>
            </a:r>
            <a:r>
              <a:rPr lang="en-US" dirty="0"/>
              <a:t> as raw material</a:t>
            </a:r>
            <a:endParaRPr lang="en-PK" dirty="0"/>
          </a:p>
        </p:txBody>
      </p:sp>
      <p:sp>
        <p:nvSpPr>
          <p:cNvPr id="4" name="Content Placeholder 3">
            <a:extLst>
              <a:ext uri="{FF2B5EF4-FFF2-40B4-BE49-F238E27FC236}">
                <a16:creationId xmlns:a16="http://schemas.microsoft.com/office/drawing/2014/main" id="{E3B23B23-CCEA-4FB5-9397-07431AB910D3}"/>
              </a:ext>
            </a:extLst>
          </p:cNvPr>
          <p:cNvSpPr>
            <a:spLocks noGrp="1"/>
          </p:cNvSpPr>
          <p:nvPr>
            <p:ph idx="1"/>
          </p:nvPr>
        </p:nvSpPr>
        <p:spPr>
          <a:xfrm>
            <a:off x="1371600" y="2061029"/>
            <a:ext cx="9601200" cy="3806371"/>
          </a:xfrm>
        </p:spPr>
        <p:txBody>
          <a:bodyPr/>
          <a:lstStyle/>
          <a:p>
            <a:r>
              <a:rPr lang="en-US" dirty="0"/>
              <a:t>Formula : Mg</a:t>
            </a:r>
            <a:r>
              <a:rPr lang="en-US" baseline="-25000" dirty="0"/>
              <a:t>3</a:t>
            </a:r>
            <a:r>
              <a:rPr lang="en-US" dirty="0"/>
              <a:t>(Si</a:t>
            </a:r>
            <a:r>
              <a:rPr lang="en-US" baseline="-25000" dirty="0"/>
              <a:t>2</a:t>
            </a:r>
            <a:r>
              <a:rPr lang="en-US" dirty="0"/>
              <a:t>O</a:t>
            </a:r>
            <a:r>
              <a:rPr lang="en-US" baseline="-25000" dirty="0"/>
              <a:t>5</a:t>
            </a:r>
            <a:r>
              <a:rPr lang="en-US" dirty="0"/>
              <a:t>)(OH)</a:t>
            </a:r>
            <a:r>
              <a:rPr lang="en-US" baseline="-25000" dirty="0"/>
              <a:t>4</a:t>
            </a:r>
            <a:endParaRPr lang="en-US" dirty="0"/>
          </a:p>
          <a:p>
            <a:r>
              <a:rPr lang="en-US" dirty="0"/>
              <a:t>Color : green, brown, light yellow to white</a:t>
            </a:r>
          </a:p>
          <a:p>
            <a:r>
              <a:rPr lang="en-US" dirty="0" err="1"/>
              <a:t>Lustre</a:t>
            </a:r>
            <a:r>
              <a:rPr lang="en-US" dirty="0"/>
              <a:t> : Resinous, Waxy, Greasy</a:t>
            </a:r>
          </a:p>
          <a:p>
            <a:r>
              <a:rPr lang="en-US" dirty="0"/>
              <a:t>Hardness:2½</a:t>
            </a:r>
          </a:p>
          <a:p>
            <a:r>
              <a:rPr lang="en-US" dirty="0"/>
              <a:t>Specific Gravity:2.55</a:t>
            </a:r>
          </a:p>
          <a:p>
            <a:r>
              <a:rPr lang="en-US" dirty="0"/>
              <a:t>Crystal System : Trigonal</a:t>
            </a:r>
          </a:p>
          <a:p>
            <a:r>
              <a:rPr lang="en-US" dirty="0"/>
              <a:t>Member of : Serpentine Subgroup </a:t>
            </a:r>
          </a:p>
          <a:p>
            <a:endParaRPr lang="en-PK" dirty="0"/>
          </a:p>
        </p:txBody>
      </p:sp>
      <p:pic>
        <p:nvPicPr>
          <p:cNvPr id="6" name="Picture 5">
            <a:extLst>
              <a:ext uri="{FF2B5EF4-FFF2-40B4-BE49-F238E27FC236}">
                <a16:creationId xmlns:a16="http://schemas.microsoft.com/office/drawing/2014/main" id="{F7DC05A2-3242-4E13-95BD-527C82A0D172}"/>
              </a:ext>
            </a:extLst>
          </p:cNvPr>
          <p:cNvPicPr>
            <a:picLocks noChangeAspect="1"/>
          </p:cNvPicPr>
          <p:nvPr/>
        </p:nvPicPr>
        <p:blipFill>
          <a:blip r:embed="rId2"/>
          <a:stretch>
            <a:fillRect/>
          </a:stretch>
        </p:blipFill>
        <p:spPr>
          <a:xfrm>
            <a:off x="7547430" y="2061029"/>
            <a:ext cx="3947884" cy="3541485"/>
          </a:xfrm>
          <a:prstGeom prst="rect">
            <a:avLst/>
          </a:prstGeom>
        </p:spPr>
      </p:pic>
    </p:spTree>
    <p:extLst>
      <p:ext uri="{BB962C8B-B14F-4D97-AF65-F5344CB8AC3E}">
        <p14:creationId xmlns:p14="http://schemas.microsoft.com/office/powerpoint/2010/main" val="22852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cap="none" dirty="0">
                <a:latin typeface="Impact" panose="020B0806030902050204" pitchFamily="34" charset="0"/>
              </a:rPr>
              <a:t>Process flow diagram</a:t>
            </a:r>
          </a:p>
        </p:txBody>
      </p:sp>
    </p:spTree>
    <p:extLst>
      <p:ext uri="{BB962C8B-B14F-4D97-AF65-F5344CB8AC3E}">
        <p14:creationId xmlns:p14="http://schemas.microsoft.com/office/powerpoint/2010/main" val="3338374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openDmnd">
          <a:fgClr>
            <a:schemeClr val="bg2"/>
          </a:fgClr>
          <a:bgClr>
            <a:schemeClr val="bg1"/>
          </a:bgClr>
        </a:patt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68D13-2A2F-46FA-825F-DA59F6B08E82}"/>
              </a:ext>
            </a:extLst>
          </p:cNvPr>
          <p:cNvPicPr>
            <a:picLocks noChangeAspect="1"/>
          </p:cNvPicPr>
          <p:nvPr/>
        </p:nvPicPr>
        <p:blipFill>
          <a:blip r:embed="rId2"/>
          <a:stretch>
            <a:fillRect/>
          </a:stretch>
        </p:blipFill>
        <p:spPr>
          <a:xfrm>
            <a:off x="1039789" y="0"/>
            <a:ext cx="10112421" cy="6858000"/>
          </a:xfrm>
          <a:prstGeom prst="rect">
            <a:avLst/>
          </a:prstGeom>
        </p:spPr>
      </p:pic>
    </p:spTree>
    <p:extLst>
      <p:ext uri="{BB962C8B-B14F-4D97-AF65-F5344CB8AC3E}">
        <p14:creationId xmlns:p14="http://schemas.microsoft.com/office/powerpoint/2010/main" val="1351714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E799-3879-4BAB-90D4-F6F7F7FE31C7}"/>
              </a:ext>
            </a:extLst>
          </p:cNvPr>
          <p:cNvSpPr>
            <a:spLocks noGrp="1"/>
          </p:cNvSpPr>
          <p:nvPr>
            <p:ph type="title"/>
          </p:nvPr>
        </p:nvSpPr>
        <p:spPr/>
        <p:txBody>
          <a:bodyPr/>
          <a:lstStyle/>
          <a:p>
            <a:pPr algn="just"/>
            <a:r>
              <a:rPr lang="en-US" dirty="0"/>
              <a:t>PFD description</a:t>
            </a:r>
            <a:endParaRPr lang="en-PK" dirty="0"/>
          </a:p>
        </p:txBody>
      </p:sp>
      <p:sp>
        <p:nvSpPr>
          <p:cNvPr id="3" name="Content Placeholder 2">
            <a:extLst>
              <a:ext uri="{FF2B5EF4-FFF2-40B4-BE49-F238E27FC236}">
                <a16:creationId xmlns:a16="http://schemas.microsoft.com/office/drawing/2014/main" id="{733552D3-4BF9-4A6A-9346-08585FDD0A98}"/>
              </a:ext>
            </a:extLst>
          </p:cNvPr>
          <p:cNvSpPr>
            <a:spLocks noGrp="1"/>
          </p:cNvSpPr>
          <p:nvPr>
            <p:ph idx="1"/>
          </p:nvPr>
        </p:nvSpPr>
        <p:spPr/>
        <p:txBody>
          <a:bodyPr/>
          <a:lstStyle/>
          <a:p>
            <a:pPr algn="just"/>
            <a:r>
              <a:rPr lang="en-US" dirty="0"/>
              <a:t>Flue gases(CO2+N2) are coming from the plant that has temp. of 120C. These gases send to cooler where temp. reduces to 50C at atmospheric pressure.</a:t>
            </a:r>
          </a:p>
          <a:p>
            <a:pPr algn="just"/>
            <a:r>
              <a:rPr lang="en-US" dirty="0"/>
              <a:t>Then these flue gases send to adsorber where the N2 is extracted and it converts rich amines into lean amines. The rich amines are made in the stripper where lean amines stream is attached and stripper makes amines rich that transfer to adsorber where N2 is extracted. This process is continuous for extraction of N2 and streams b/w adsorber and stripper are transferred with the help of pumps.  </a:t>
            </a:r>
          </a:p>
          <a:p>
            <a:pPr algn="just"/>
            <a:endParaRPr lang="en-US" dirty="0"/>
          </a:p>
          <a:p>
            <a:pPr algn="just"/>
            <a:endParaRPr lang="en-PK" dirty="0"/>
          </a:p>
        </p:txBody>
      </p:sp>
    </p:spTree>
    <p:extLst>
      <p:ext uri="{BB962C8B-B14F-4D97-AF65-F5344CB8AC3E}">
        <p14:creationId xmlns:p14="http://schemas.microsoft.com/office/powerpoint/2010/main" val="3535989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FB4B5-B016-48DA-8855-550A4B81519E}"/>
              </a:ext>
            </a:extLst>
          </p:cNvPr>
          <p:cNvSpPr>
            <a:spLocks noGrp="1"/>
          </p:cNvSpPr>
          <p:nvPr>
            <p:ph type="title"/>
          </p:nvPr>
        </p:nvSpPr>
        <p:spPr/>
        <p:txBody>
          <a:bodyPr/>
          <a:lstStyle/>
          <a:p>
            <a:r>
              <a:rPr lang="en-US" dirty="0"/>
              <a:t>Conti….</a:t>
            </a:r>
            <a:endParaRPr lang="en-PK" dirty="0"/>
          </a:p>
        </p:txBody>
      </p:sp>
      <p:sp>
        <p:nvSpPr>
          <p:cNvPr id="3" name="Content Placeholder 2">
            <a:extLst>
              <a:ext uri="{FF2B5EF4-FFF2-40B4-BE49-F238E27FC236}">
                <a16:creationId xmlns:a16="http://schemas.microsoft.com/office/drawing/2014/main" id="{A66F6321-E21A-409E-9606-4CB4EE9EF48C}"/>
              </a:ext>
            </a:extLst>
          </p:cNvPr>
          <p:cNvSpPr>
            <a:spLocks noGrp="1"/>
          </p:cNvSpPr>
          <p:nvPr>
            <p:ph idx="1"/>
          </p:nvPr>
        </p:nvSpPr>
        <p:spPr/>
        <p:txBody>
          <a:bodyPr/>
          <a:lstStyle/>
          <a:p>
            <a:pPr algn="just"/>
            <a:r>
              <a:rPr lang="en-US" dirty="0"/>
              <a:t>After stripper stream(99%pure,CO2) is send to compressor. From where it is send to the carbonation reactor and precipitator. CO2 analyzer is installed that analyze CO2.</a:t>
            </a:r>
          </a:p>
          <a:p>
            <a:pPr algn="just"/>
            <a:r>
              <a:rPr lang="en-US" dirty="0"/>
              <a:t> We prepare slurry in mixer by adding activated feed material (</a:t>
            </a:r>
            <a:r>
              <a:rPr lang="en-US" dirty="0" err="1"/>
              <a:t>Lizardite</a:t>
            </a:r>
            <a:r>
              <a:rPr lang="en-US" dirty="0"/>
              <a:t>) and distilled water. It is send to the heater with the help of pump where its temp. rises. So that it can send to the carbonation reaction.</a:t>
            </a:r>
          </a:p>
          <a:p>
            <a:pPr algn="just"/>
            <a:r>
              <a:rPr lang="en-US" dirty="0"/>
              <a:t>In carbonation reactor, slurry is added at 45C with 5 bar pressure and CO2 from compressor is added. From reactor CO2 is send to treated gas holder by analyzing with the help of CO2 analyzer.    </a:t>
            </a:r>
            <a:endParaRPr lang="en-PK" dirty="0"/>
          </a:p>
        </p:txBody>
      </p:sp>
    </p:spTree>
    <p:extLst>
      <p:ext uri="{BB962C8B-B14F-4D97-AF65-F5344CB8AC3E}">
        <p14:creationId xmlns:p14="http://schemas.microsoft.com/office/powerpoint/2010/main" val="264560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0572C-C56B-46A6-AB27-662401A2DA3F}"/>
              </a:ext>
            </a:extLst>
          </p:cNvPr>
          <p:cNvSpPr>
            <a:spLocks noGrp="1"/>
          </p:cNvSpPr>
          <p:nvPr>
            <p:ph type="title"/>
          </p:nvPr>
        </p:nvSpPr>
        <p:spPr/>
        <p:txBody>
          <a:bodyPr/>
          <a:lstStyle/>
          <a:p>
            <a:pPr algn="just"/>
            <a:r>
              <a:rPr lang="en-US" dirty="0"/>
              <a:t>Conti….</a:t>
            </a:r>
            <a:endParaRPr lang="en-PK" dirty="0"/>
          </a:p>
        </p:txBody>
      </p:sp>
      <p:sp>
        <p:nvSpPr>
          <p:cNvPr id="3" name="Content Placeholder 2">
            <a:extLst>
              <a:ext uri="{FF2B5EF4-FFF2-40B4-BE49-F238E27FC236}">
                <a16:creationId xmlns:a16="http://schemas.microsoft.com/office/drawing/2014/main" id="{49D45A75-45B9-4794-933A-49CE26E9B7FB}"/>
              </a:ext>
            </a:extLst>
          </p:cNvPr>
          <p:cNvSpPr>
            <a:spLocks noGrp="1"/>
          </p:cNvSpPr>
          <p:nvPr>
            <p:ph idx="1"/>
          </p:nvPr>
        </p:nvSpPr>
        <p:spPr/>
        <p:txBody>
          <a:bodyPr/>
          <a:lstStyle/>
          <a:p>
            <a:pPr algn="just"/>
            <a:r>
              <a:rPr lang="en-US" dirty="0"/>
              <a:t>From Carbonation reactor , product is send to the filter where undesired solids are removed from the product. From filter product is send to precipitator with the help of pump. After reaction in reactor product temp. is 90C and pressure is 2 bar.</a:t>
            </a:r>
          </a:p>
          <a:p>
            <a:pPr algn="just"/>
            <a:r>
              <a:rPr lang="en-US" dirty="0"/>
              <a:t>In precipitator , product is added and CO2 that is 99% pure from compressor is added. Temp. reduced to 40C and stream is send to filter. From filter circulated water and product is separated. Our product is </a:t>
            </a:r>
            <a:r>
              <a:rPr lang="en-US" dirty="0" err="1"/>
              <a:t>Nesquehonite</a:t>
            </a:r>
            <a:r>
              <a:rPr lang="en-US" dirty="0"/>
              <a:t>.     </a:t>
            </a:r>
            <a:endParaRPr lang="en-PK" dirty="0"/>
          </a:p>
        </p:txBody>
      </p:sp>
    </p:spTree>
    <p:extLst>
      <p:ext uri="{BB962C8B-B14F-4D97-AF65-F5344CB8AC3E}">
        <p14:creationId xmlns:p14="http://schemas.microsoft.com/office/powerpoint/2010/main" val="4225438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dirty="0">
                <a:latin typeface="Impact" panose="020B0806030902050204" pitchFamily="34" charset="0"/>
              </a:rPr>
              <a:t>Capacity selection</a:t>
            </a:r>
            <a:endParaRPr lang="en-US" cap="none" dirty="0">
              <a:latin typeface="Impact" panose="020B0806030902050204" pitchFamily="34" charset="0"/>
            </a:endParaRPr>
          </a:p>
        </p:txBody>
      </p:sp>
    </p:spTree>
    <p:extLst>
      <p:ext uri="{BB962C8B-B14F-4D97-AF65-F5344CB8AC3E}">
        <p14:creationId xmlns:p14="http://schemas.microsoft.com/office/powerpoint/2010/main" val="1573473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74DC-7706-4FC3-9529-4BCDE0A82851}"/>
              </a:ext>
            </a:extLst>
          </p:cNvPr>
          <p:cNvSpPr>
            <a:spLocks noGrp="1"/>
          </p:cNvSpPr>
          <p:nvPr>
            <p:ph type="title"/>
          </p:nvPr>
        </p:nvSpPr>
        <p:spPr/>
        <p:txBody>
          <a:bodyPr/>
          <a:lstStyle/>
          <a:p>
            <a:r>
              <a:rPr lang="en-US" dirty="0"/>
              <a:t>Capacity is selected as</a:t>
            </a:r>
            <a:endParaRPr lang="en-PK" dirty="0"/>
          </a:p>
        </p:txBody>
      </p:sp>
      <p:sp>
        <p:nvSpPr>
          <p:cNvPr id="3" name="Content Placeholder 2">
            <a:extLst>
              <a:ext uri="{FF2B5EF4-FFF2-40B4-BE49-F238E27FC236}">
                <a16:creationId xmlns:a16="http://schemas.microsoft.com/office/drawing/2014/main" id="{45D96073-A559-49D0-A106-5C7E68E9EFBD}"/>
              </a:ext>
            </a:extLst>
          </p:cNvPr>
          <p:cNvSpPr>
            <a:spLocks noGrp="1"/>
          </p:cNvSpPr>
          <p:nvPr>
            <p:ph idx="1"/>
          </p:nvPr>
        </p:nvSpPr>
        <p:spPr/>
        <p:txBody>
          <a:bodyPr/>
          <a:lstStyle/>
          <a:p>
            <a:r>
              <a:rPr lang="en-US" dirty="0"/>
              <a:t>1kg of CO</a:t>
            </a:r>
            <a:r>
              <a:rPr lang="en-US" baseline="-25000" dirty="0"/>
              <a:t>2</a:t>
            </a:r>
            <a:r>
              <a:rPr lang="en-US" dirty="0"/>
              <a:t> required 2 kg of </a:t>
            </a:r>
            <a:r>
              <a:rPr lang="en-US" dirty="0" err="1"/>
              <a:t>lizardite</a:t>
            </a:r>
            <a:endParaRPr lang="en-US" dirty="0"/>
          </a:p>
          <a:p>
            <a:r>
              <a:rPr lang="en-US" dirty="0"/>
              <a:t>1 ton = 1000kg</a:t>
            </a:r>
          </a:p>
          <a:p>
            <a:r>
              <a:rPr lang="en-US" dirty="0"/>
              <a:t>1 ton CO</a:t>
            </a:r>
            <a:r>
              <a:rPr lang="en-US" baseline="-25000" dirty="0"/>
              <a:t>2</a:t>
            </a:r>
            <a:r>
              <a:rPr lang="en-US" dirty="0"/>
              <a:t> captured per day = 1000kg / day</a:t>
            </a:r>
          </a:p>
          <a:p>
            <a:r>
              <a:rPr lang="en-US" dirty="0"/>
              <a:t>CO</a:t>
            </a:r>
            <a:r>
              <a:rPr lang="en-US" baseline="-25000" dirty="0"/>
              <a:t>2</a:t>
            </a:r>
            <a:r>
              <a:rPr lang="en-US" dirty="0"/>
              <a:t> capture per hour = 1000/24 = 41.67kg/h</a:t>
            </a:r>
          </a:p>
          <a:p>
            <a:r>
              <a:rPr lang="en-US" dirty="0"/>
              <a:t>So, plant is designed to capture and store 41.67kg of CO</a:t>
            </a:r>
            <a:r>
              <a:rPr lang="en-US" baseline="-25000" dirty="0"/>
              <a:t>2</a:t>
            </a:r>
          </a:p>
          <a:p>
            <a:r>
              <a:rPr lang="en-US" dirty="0"/>
              <a:t>1kg CO</a:t>
            </a:r>
            <a:r>
              <a:rPr lang="en-US" baseline="-25000" dirty="0"/>
              <a:t>2</a:t>
            </a:r>
            <a:r>
              <a:rPr lang="en-US" dirty="0"/>
              <a:t> require = 2kg of </a:t>
            </a:r>
            <a:r>
              <a:rPr lang="en-US" dirty="0" err="1"/>
              <a:t>lizardite</a:t>
            </a:r>
            <a:r>
              <a:rPr lang="en-US" dirty="0"/>
              <a:t> </a:t>
            </a:r>
          </a:p>
          <a:p>
            <a:r>
              <a:rPr lang="en-US" dirty="0"/>
              <a:t>41.67kg/h CO</a:t>
            </a:r>
            <a:r>
              <a:rPr lang="en-US" baseline="-25000" dirty="0"/>
              <a:t>2</a:t>
            </a:r>
            <a:r>
              <a:rPr lang="en-US" dirty="0"/>
              <a:t> require = 83.34kg/h </a:t>
            </a:r>
            <a:r>
              <a:rPr lang="en-US" dirty="0" err="1"/>
              <a:t>lizardite</a:t>
            </a:r>
            <a:endParaRPr lang="en-US" dirty="0"/>
          </a:p>
          <a:p>
            <a:endParaRPr lang="en-US" dirty="0"/>
          </a:p>
          <a:p>
            <a:endParaRPr lang="en-PK" dirty="0"/>
          </a:p>
        </p:txBody>
      </p:sp>
    </p:spTree>
    <p:extLst>
      <p:ext uri="{BB962C8B-B14F-4D97-AF65-F5344CB8AC3E}">
        <p14:creationId xmlns:p14="http://schemas.microsoft.com/office/powerpoint/2010/main" val="2692636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cap="none" dirty="0">
                <a:latin typeface="Impact" panose="020B0806030902050204" pitchFamily="34" charset="0"/>
              </a:rPr>
              <a:t>Material Balance</a:t>
            </a:r>
          </a:p>
        </p:txBody>
      </p:sp>
    </p:spTree>
    <p:extLst>
      <p:ext uri="{BB962C8B-B14F-4D97-AF65-F5344CB8AC3E}">
        <p14:creationId xmlns:p14="http://schemas.microsoft.com/office/powerpoint/2010/main" val="400635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AB04-94A4-4C03-9531-A5033479EE8A}"/>
              </a:ext>
            </a:extLst>
          </p:cNvPr>
          <p:cNvSpPr>
            <a:spLocks noGrp="1"/>
          </p:cNvSpPr>
          <p:nvPr>
            <p:ph type="title"/>
          </p:nvPr>
        </p:nvSpPr>
        <p:spPr/>
        <p:txBody>
          <a:bodyPr/>
          <a:lstStyle/>
          <a:p>
            <a:r>
              <a:rPr lang="en-US" dirty="0"/>
              <a:t>Raw materials required</a:t>
            </a:r>
            <a:endParaRPr lang="en-PK" dirty="0"/>
          </a:p>
        </p:txBody>
      </p:sp>
      <p:sp>
        <p:nvSpPr>
          <p:cNvPr id="3" name="Content Placeholder 2">
            <a:extLst>
              <a:ext uri="{FF2B5EF4-FFF2-40B4-BE49-F238E27FC236}">
                <a16:creationId xmlns:a16="http://schemas.microsoft.com/office/drawing/2014/main" id="{D7768D05-57D7-4EFF-8D06-FE6A0737D664}"/>
              </a:ext>
            </a:extLst>
          </p:cNvPr>
          <p:cNvSpPr>
            <a:spLocks noGrp="1"/>
          </p:cNvSpPr>
          <p:nvPr>
            <p:ph idx="1"/>
          </p:nvPr>
        </p:nvSpPr>
        <p:spPr/>
        <p:txBody>
          <a:bodyPr/>
          <a:lstStyle/>
          <a:p>
            <a:r>
              <a:rPr lang="en-US" dirty="0"/>
              <a:t>We need 2% conc. Slurry for the reaction</a:t>
            </a:r>
          </a:p>
          <a:p>
            <a:r>
              <a:rPr lang="en-US" dirty="0"/>
              <a:t>2% </a:t>
            </a:r>
            <a:r>
              <a:rPr lang="en-US" dirty="0" err="1"/>
              <a:t>lizardite</a:t>
            </a:r>
            <a:r>
              <a:rPr lang="en-US" dirty="0"/>
              <a:t> (solids)</a:t>
            </a:r>
          </a:p>
          <a:p>
            <a:r>
              <a:rPr lang="en-US" dirty="0"/>
              <a:t>98% sol (water)</a:t>
            </a:r>
            <a:endParaRPr lang="en-PK" dirty="0"/>
          </a:p>
        </p:txBody>
      </p:sp>
    </p:spTree>
    <p:extLst>
      <p:ext uri="{BB962C8B-B14F-4D97-AF65-F5344CB8AC3E}">
        <p14:creationId xmlns:p14="http://schemas.microsoft.com/office/powerpoint/2010/main" val="58312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33B7-6365-40AB-9007-B459E276DB74}"/>
              </a:ext>
            </a:extLst>
          </p:cNvPr>
          <p:cNvSpPr>
            <a:spLocks noGrp="1"/>
          </p:cNvSpPr>
          <p:nvPr>
            <p:ph type="title"/>
          </p:nvPr>
        </p:nvSpPr>
        <p:spPr/>
        <p:txBody>
          <a:bodyPr/>
          <a:lstStyle/>
          <a:p>
            <a:r>
              <a:rPr lang="en-US" dirty="0"/>
              <a:t>Slurry preparation </a:t>
            </a:r>
            <a:br>
              <a:rPr lang="en-US" dirty="0"/>
            </a:br>
            <a:endParaRPr lang="en-PK" dirty="0"/>
          </a:p>
        </p:txBody>
      </p:sp>
      <p:sp>
        <p:nvSpPr>
          <p:cNvPr id="3" name="Content Placeholder 2">
            <a:extLst>
              <a:ext uri="{FF2B5EF4-FFF2-40B4-BE49-F238E27FC236}">
                <a16:creationId xmlns:a16="http://schemas.microsoft.com/office/drawing/2014/main" id="{38AFE2F2-28C0-4603-A324-02C3621A7524}"/>
              </a:ext>
            </a:extLst>
          </p:cNvPr>
          <p:cNvSpPr>
            <a:spLocks noGrp="1"/>
          </p:cNvSpPr>
          <p:nvPr>
            <p:ph idx="1"/>
          </p:nvPr>
        </p:nvSpPr>
        <p:spPr>
          <a:xfrm>
            <a:off x="1371600" y="1484671"/>
            <a:ext cx="9601200" cy="4902061"/>
          </a:xfrm>
        </p:spPr>
        <p:style>
          <a:lnRef idx="1">
            <a:schemeClr val="accent3"/>
          </a:lnRef>
          <a:fillRef idx="2">
            <a:schemeClr val="accent3"/>
          </a:fillRef>
          <a:effectRef idx="1">
            <a:schemeClr val="accent3"/>
          </a:effectRef>
          <a:fontRef idx="minor">
            <a:schemeClr val="dk1"/>
          </a:fontRef>
        </p:style>
        <p:txBody>
          <a:bodyPr/>
          <a:lstStyle/>
          <a:p>
            <a:pPr marL="0" indent="0">
              <a:buNone/>
            </a:pPr>
            <a:endParaRPr lang="en-US" dirty="0"/>
          </a:p>
          <a:p>
            <a:r>
              <a:rPr lang="en-US" dirty="0" err="1"/>
              <a:t>Lizardite</a:t>
            </a:r>
            <a:r>
              <a:rPr lang="en-US" dirty="0"/>
              <a:t> flow rate = 83.334kg/h</a:t>
            </a:r>
          </a:p>
          <a:p>
            <a:r>
              <a:rPr lang="en-US" dirty="0"/>
              <a:t>Total inlet flow rate = 83.334/0.02 = 4166.7kg/h</a:t>
            </a:r>
          </a:p>
          <a:p>
            <a:r>
              <a:rPr lang="en-US" dirty="0"/>
              <a:t>Composition of </a:t>
            </a:r>
            <a:r>
              <a:rPr lang="en-US" dirty="0" err="1"/>
              <a:t>lizardite</a:t>
            </a:r>
            <a:r>
              <a:rPr lang="en-US" dirty="0"/>
              <a:t> = 0.02</a:t>
            </a:r>
          </a:p>
          <a:p>
            <a:r>
              <a:rPr lang="en-US" dirty="0"/>
              <a:t>Composition of solution = 0.98</a:t>
            </a:r>
          </a:p>
          <a:p>
            <a:r>
              <a:rPr lang="en-US" dirty="0"/>
              <a:t>Flow rate of solution = 4166.7(98)/100 = 4083.366kg/h </a:t>
            </a:r>
            <a:endParaRPr lang="en-PK" dirty="0"/>
          </a:p>
        </p:txBody>
      </p:sp>
    </p:spTree>
    <p:extLst>
      <p:ext uri="{BB962C8B-B14F-4D97-AF65-F5344CB8AC3E}">
        <p14:creationId xmlns:p14="http://schemas.microsoft.com/office/powerpoint/2010/main" val="3324948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90CB-CA02-4B28-930D-D97B17A0FD42}"/>
              </a:ext>
            </a:extLst>
          </p:cNvPr>
          <p:cNvSpPr>
            <a:spLocks noGrp="1"/>
          </p:cNvSpPr>
          <p:nvPr>
            <p:ph type="title"/>
          </p:nvPr>
        </p:nvSpPr>
        <p:spPr/>
        <p:txBody>
          <a:bodyPr/>
          <a:lstStyle/>
          <a:p>
            <a:r>
              <a:rPr lang="en-US" dirty="0"/>
              <a:t>Balance for slurry</a:t>
            </a:r>
            <a:endParaRPr lang="en-PK" dirty="0"/>
          </a:p>
        </p:txBody>
      </p:sp>
      <p:graphicFrame>
        <p:nvGraphicFramePr>
          <p:cNvPr id="5" name="Object 4">
            <a:extLst>
              <a:ext uri="{FF2B5EF4-FFF2-40B4-BE49-F238E27FC236}">
                <a16:creationId xmlns:a16="http://schemas.microsoft.com/office/drawing/2014/main" id="{9FFBDF49-28FF-4B57-B48B-C12452893E72}"/>
              </a:ext>
            </a:extLst>
          </p:cNvPr>
          <p:cNvGraphicFramePr>
            <a:graphicFrameLocks noChangeAspect="1"/>
          </p:cNvGraphicFramePr>
          <p:nvPr>
            <p:extLst>
              <p:ext uri="{D42A27DB-BD31-4B8C-83A1-F6EECF244321}">
                <p14:modId xmlns:p14="http://schemas.microsoft.com/office/powerpoint/2010/main" val="4166793635"/>
              </p:ext>
            </p:extLst>
          </p:nvPr>
        </p:nvGraphicFramePr>
        <p:xfrm>
          <a:off x="1953490" y="1692794"/>
          <a:ext cx="8478983" cy="3985664"/>
        </p:xfrm>
        <a:graphic>
          <a:graphicData uri="http://schemas.openxmlformats.org/presentationml/2006/ole">
            <mc:AlternateContent xmlns:mc="http://schemas.openxmlformats.org/markup-compatibility/2006">
              <mc:Choice xmlns:v="urn:schemas-microsoft-com:vml" Requires="v">
                <p:oleObj spid="_x0000_s1026" name="Worksheet" r:id="rId3" imgW="3667123" imgH="1723935" progId="Excel.Sheet.12">
                  <p:embed/>
                </p:oleObj>
              </mc:Choice>
              <mc:Fallback>
                <p:oleObj name="Worksheet" r:id="rId3" imgW="3667123" imgH="1723935" progId="Excel.Sheet.12">
                  <p:embed/>
                  <p:pic>
                    <p:nvPicPr>
                      <p:cNvPr id="0" name=""/>
                      <p:cNvPicPr/>
                      <p:nvPr/>
                    </p:nvPicPr>
                    <p:blipFill>
                      <a:blip r:embed="rId4"/>
                      <a:stretch>
                        <a:fillRect/>
                      </a:stretch>
                    </p:blipFill>
                    <p:spPr>
                      <a:xfrm>
                        <a:off x="1953490" y="1692794"/>
                        <a:ext cx="8478983" cy="3985664"/>
                      </a:xfrm>
                      <a:prstGeom prst="rect">
                        <a:avLst/>
                      </a:prstGeom>
                    </p:spPr>
                  </p:pic>
                </p:oleObj>
              </mc:Fallback>
            </mc:AlternateContent>
          </a:graphicData>
        </a:graphic>
      </p:graphicFrame>
    </p:spTree>
    <p:extLst>
      <p:ext uri="{BB962C8B-B14F-4D97-AF65-F5344CB8AC3E}">
        <p14:creationId xmlns:p14="http://schemas.microsoft.com/office/powerpoint/2010/main" val="4126767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6E24-723C-4D01-A659-2FC2B1091796}"/>
              </a:ext>
            </a:extLst>
          </p:cNvPr>
          <p:cNvSpPr>
            <a:spLocks noGrp="1"/>
          </p:cNvSpPr>
          <p:nvPr>
            <p:ph type="title"/>
          </p:nvPr>
        </p:nvSpPr>
        <p:spPr/>
        <p:txBody>
          <a:bodyPr/>
          <a:lstStyle/>
          <a:p>
            <a:r>
              <a:rPr lang="en-US" dirty="0"/>
              <a:t>Adsorber Balance</a:t>
            </a:r>
            <a:endParaRPr lang="en-PK" dirty="0"/>
          </a:p>
        </p:txBody>
      </p:sp>
      <p:sp>
        <p:nvSpPr>
          <p:cNvPr id="3" name="Content Placeholder 2">
            <a:extLst>
              <a:ext uri="{FF2B5EF4-FFF2-40B4-BE49-F238E27FC236}">
                <a16:creationId xmlns:a16="http://schemas.microsoft.com/office/drawing/2014/main" id="{3B1D88FA-D053-425A-8F4D-52270B322115}"/>
              </a:ext>
            </a:extLst>
          </p:cNvPr>
          <p:cNvSpPr>
            <a:spLocks noGrp="1"/>
          </p:cNvSpPr>
          <p:nvPr>
            <p:ph idx="1"/>
          </p:nvPr>
        </p:nvSpPr>
        <p:spPr/>
        <p:txBody>
          <a:bodyPr/>
          <a:lstStyle/>
          <a:p>
            <a:r>
              <a:rPr lang="en-US" dirty="0"/>
              <a:t>2 streams are input in which one is rich amines and other is CO</a:t>
            </a:r>
            <a:r>
              <a:rPr lang="en-US" baseline="-25000" dirty="0"/>
              <a:t>2</a:t>
            </a:r>
          </a:p>
          <a:p>
            <a:r>
              <a:rPr lang="en-US" dirty="0"/>
              <a:t>2 streams output 1 is lean amines and other is N</a:t>
            </a:r>
            <a:r>
              <a:rPr lang="en-US" baseline="-25000" dirty="0"/>
              <a:t>2</a:t>
            </a:r>
            <a:endParaRPr lang="en-PK" baseline="-25000" dirty="0"/>
          </a:p>
        </p:txBody>
      </p:sp>
      <p:graphicFrame>
        <p:nvGraphicFramePr>
          <p:cNvPr id="4" name="Object 3">
            <a:extLst>
              <a:ext uri="{FF2B5EF4-FFF2-40B4-BE49-F238E27FC236}">
                <a16:creationId xmlns:a16="http://schemas.microsoft.com/office/drawing/2014/main" id="{5E705A70-8864-4863-9DF4-36E6D936FAF9}"/>
              </a:ext>
            </a:extLst>
          </p:cNvPr>
          <p:cNvGraphicFramePr>
            <a:graphicFrameLocks noChangeAspect="1"/>
          </p:cNvGraphicFramePr>
          <p:nvPr>
            <p:extLst>
              <p:ext uri="{D42A27DB-BD31-4B8C-83A1-F6EECF244321}">
                <p14:modId xmlns:p14="http://schemas.microsoft.com/office/powerpoint/2010/main" val="1933375764"/>
              </p:ext>
            </p:extLst>
          </p:nvPr>
        </p:nvGraphicFramePr>
        <p:xfrm>
          <a:off x="2078182" y="2557616"/>
          <a:ext cx="8742218" cy="3037385"/>
        </p:xfrm>
        <a:graphic>
          <a:graphicData uri="http://schemas.openxmlformats.org/presentationml/2006/ole">
            <mc:AlternateContent xmlns:mc="http://schemas.openxmlformats.org/markup-compatibility/2006">
              <mc:Choice xmlns:v="urn:schemas-microsoft-com:vml" Requires="v">
                <p:oleObj spid="_x0000_s2050" name="Worksheet" r:id="rId3" imgW="4276837" imgH="1485874" progId="Excel.Sheet.12">
                  <p:embed/>
                </p:oleObj>
              </mc:Choice>
              <mc:Fallback>
                <p:oleObj name="Worksheet" r:id="rId3" imgW="4276837" imgH="1485874" progId="Excel.Sheet.12">
                  <p:embed/>
                  <p:pic>
                    <p:nvPicPr>
                      <p:cNvPr id="0" name=""/>
                      <p:cNvPicPr/>
                      <p:nvPr/>
                    </p:nvPicPr>
                    <p:blipFill>
                      <a:blip r:embed="rId4"/>
                      <a:stretch>
                        <a:fillRect/>
                      </a:stretch>
                    </p:blipFill>
                    <p:spPr>
                      <a:xfrm>
                        <a:off x="2078182" y="2557616"/>
                        <a:ext cx="8742218" cy="3037385"/>
                      </a:xfrm>
                      <a:prstGeom prst="rect">
                        <a:avLst/>
                      </a:prstGeom>
                    </p:spPr>
                  </p:pic>
                </p:oleObj>
              </mc:Fallback>
            </mc:AlternateContent>
          </a:graphicData>
        </a:graphic>
      </p:graphicFrame>
    </p:spTree>
    <p:extLst>
      <p:ext uri="{BB962C8B-B14F-4D97-AF65-F5344CB8AC3E}">
        <p14:creationId xmlns:p14="http://schemas.microsoft.com/office/powerpoint/2010/main" val="2370320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62257-E2AE-46BF-86F3-60FA8D915880}"/>
              </a:ext>
            </a:extLst>
          </p:cNvPr>
          <p:cNvSpPr>
            <a:spLocks noGrp="1"/>
          </p:cNvSpPr>
          <p:nvPr>
            <p:ph type="title"/>
          </p:nvPr>
        </p:nvSpPr>
        <p:spPr/>
        <p:txBody>
          <a:bodyPr/>
          <a:lstStyle/>
          <a:p>
            <a:r>
              <a:rPr lang="en-US" dirty="0"/>
              <a:t>Stripper balance </a:t>
            </a:r>
            <a:br>
              <a:rPr lang="en-US" dirty="0"/>
            </a:br>
            <a:endParaRPr lang="en-PK" dirty="0"/>
          </a:p>
        </p:txBody>
      </p:sp>
      <p:sp>
        <p:nvSpPr>
          <p:cNvPr id="3" name="Content Placeholder 2">
            <a:extLst>
              <a:ext uri="{FF2B5EF4-FFF2-40B4-BE49-F238E27FC236}">
                <a16:creationId xmlns:a16="http://schemas.microsoft.com/office/drawing/2014/main" id="{2D74A007-B3A8-4367-8F95-5AE936FBE0EF}"/>
              </a:ext>
            </a:extLst>
          </p:cNvPr>
          <p:cNvSpPr>
            <a:spLocks noGrp="1"/>
          </p:cNvSpPr>
          <p:nvPr>
            <p:ph idx="1"/>
          </p:nvPr>
        </p:nvSpPr>
        <p:spPr/>
        <p:txBody>
          <a:bodyPr/>
          <a:lstStyle/>
          <a:p>
            <a:r>
              <a:rPr lang="en-US" dirty="0"/>
              <a:t>1 stream is input that is lean amines </a:t>
            </a:r>
          </a:p>
          <a:p>
            <a:r>
              <a:rPr lang="en-US" dirty="0"/>
              <a:t>2 streams are out put 1 is rich mines and other is CO</a:t>
            </a:r>
            <a:r>
              <a:rPr lang="en-US" baseline="-25000" dirty="0"/>
              <a:t>2</a:t>
            </a:r>
            <a:endParaRPr lang="en-PK" baseline="-25000" dirty="0"/>
          </a:p>
        </p:txBody>
      </p:sp>
      <p:graphicFrame>
        <p:nvGraphicFramePr>
          <p:cNvPr id="4" name="Object 3">
            <a:extLst>
              <a:ext uri="{FF2B5EF4-FFF2-40B4-BE49-F238E27FC236}">
                <a16:creationId xmlns:a16="http://schemas.microsoft.com/office/drawing/2014/main" id="{6E0309B9-0452-4D84-9006-5E5D268E8FC5}"/>
              </a:ext>
            </a:extLst>
          </p:cNvPr>
          <p:cNvGraphicFramePr>
            <a:graphicFrameLocks noChangeAspect="1"/>
          </p:cNvGraphicFramePr>
          <p:nvPr>
            <p:extLst>
              <p:ext uri="{D42A27DB-BD31-4B8C-83A1-F6EECF244321}">
                <p14:modId xmlns:p14="http://schemas.microsoft.com/office/powerpoint/2010/main" val="2758978911"/>
              </p:ext>
            </p:extLst>
          </p:nvPr>
        </p:nvGraphicFramePr>
        <p:xfrm>
          <a:off x="2135015" y="2396981"/>
          <a:ext cx="8426166" cy="3678237"/>
        </p:xfrm>
        <a:graphic>
          <a:graphicData uri="http://schemas.openxmlformats.org/presentationml/2006/ole">
            <mc:AlternateContent xmlns:mc="http://schemas.openxmlformats.org/markup-compatibility/2006">
              <mc:Choice xmlns:v="urn:schemas-microsoft-com:vml" Requires="v">
                <p:oleObj spid="_x0000_s3074" name="Worksheet" r:id="rId3" imgW="4276837" imgH="1866856" progId="Excel.Sheet.12">
                  <p:embed/>
                </p:oleObj>
              </mc:Choice>
              <mc:Fallback>
                <p:oleObj name="Worksheet" r:id="rId3" imgW="4276837" imgH="1866856" progId="Excel.Sheet.12">
                  <p:embed/>
                  <p:pic>
                    <p:nvPicPr>
                      <p:cNvPr id="0" name=""/>
                      <p:cNvPicPr/>
                      <p:nvPr/>
                    </p:nvPicPr>
                    <p:blipFill>
                      <a:blip r:embed="rId4"/>
                      <a:stretch>
                        <a:fillRect/>
                      </a:stretch>
                    </p:blipFill>
                    <p:spPr>
                      <a:xfrm>
                        <a:off x="2135015" y="2396981"/>
                        <a:ext cx="8426166" cy="3678237"/>
                      </a:xfrm>
                      <a:prstGeom prst="rect">
                        <a:avLst/>
                      </a:prstGeom>
                    </p:spPr>
                  </p:pic>
                </p:oleObj>
              </mc:Fallback>
            </mc:AlternateContent>
          </a:graphicData>
        </a:graphic>
      </p:graphicFrame>
    </p:spTree>
    <p:extLst>
      <p:ext uri="{BB962C8B-B14F-4D97-AF65-F5344CB8AC3E}">
        <p14:creationId xmlns:p14="http://schemas.microsoft.com/office/powerpoint/2010/main" val="334353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49F37-1C81-4E33-8C74-330D5AF597A1}"/>
              </a:ext>
            </a:extLst>
          </p:cNvPr>
          <p:cNvSpPr>
            <a:spLocks noGrp="1"/>
          </p:cNvSpPr>
          <p:nvPr>
            <p:ph type="title"/>
          </p:nvPr>
        </p:nvSpPr>
        <p:spPr/>
        <p:txBody>
          <a:bodyPr/>
          <a:lstStyle/>
          <a:p>
            <a:r>
              <a:rPr lang="en-US" dirty="0"/>
              <a:t>Reactor balance </a:t>
            </a:r>
            <a:br>
              <a:rPr lang="en-US" dirty="0"/>
            </a:br>
            <a:endParaRPr lang="en-PK" dirty="0"/>
          </a:p>
        </p:txBody>
      </p:sp>
      <p:sp>
        <p:nvSpPr>
          <p:cNvPr id="3" name="Content Placeholder 2">
            <a:extLst>
              <a:ext uri="{FF2B5EF4-FFF2-40B4-BE49-F238E27FC236}">
                <a16:creationId xmlns:a16="http://schemas.microsoft.com/office/drawing/2014/main" id="{FA44069F-3C10-4765-98BB-15DBB013DC28}"/>
              </a:ext>
            </a:extLst>
          </p:cNvPr>
          <p:cNvSpPr>
            <a:spLocks noGrp="1"/>
          </p:cNvSpPr>
          <p:nvPr>
            <p:ph idx="1"/>
          </p:nvPr>
        </p:nvSpPr>
        <p:spPr/>
        <p:txBody>
          <a:bodyPr/>
          <a:lstStyle/>
          <a:p>
            <a:r>
              <a:rPr lang="en-US" dirty="0"/>
              <a:t>F+G=H+I</a:t>
            </a:r>
          </a:p>
          <a:p>
            <a:r>
              <a:rPr lang="en-US" dirty="0"/>
              <a:t>4166.7+86.57 = H+I</a:t>
            </a:r>
          </a:p>
          <a:p>
            <a:r>
              <a:rPr lang="en-US" dirty="0"/>
              <a:t>H+I = 4253.27KG/H</a:t>
            </a:r>
          </a:p>
          <a:p>
            <a:r>
              <a:rPr lang="en-US" dirty="0" err="1"/>
              <a:t>Lizardite</a:t>
            </a:r>
            <a:r>
              <a:rPr lang="en-US" dirty="0"/>
              <a:t> balance </a:t>
            </a:r>
          </a:p>
          <a:p>
            <a:r>
              <a:rPr lang="en-US" dirty="0" err="1"/>
              <a:t>F</a:t>
            </a:r>
            <a:r>
              <a:rPr lang="en-US" sz="1400" dirty="0" err="1"/>
              <a:t>Ao</a:t>
            </a:r>
            <a:r>
              <a:rPr lang="en-US" sz="1400" dirty="0"/>
              <a:t> </a:t>
            </a:r>
            <a:r>
              <a:rPr lang="en-US" dirty="0"/>
              <a:t>=83.334kg/h = 8333g/h</a:t>
            </a:r>
          </a:p>
          <a:p>
            <a:r>
              <a:rPr lang="en-US" dirty="0"/>
              <a:t>M.M of </a:t>
            </a:r>
            <a:r>
              <a:rPr lang="en-US" dirty="0" err="1"/>
              <a:t>lizardite</a:t>
            </a:r>
            <a:r>
              <a:rPr lang="en-US" dirty="0"/>
              <a:t> = 277.11g/mol</a:t>
            </a:r>
          </a:p>
          <a:p>
            <a:r>
              <a:rPr lang="en-US" dirty="0"/>
              <a:t>N=mass/M.M= 8333/277.11=300.72 </a:t>
            </a:r>
            <a:r>
              <a:rPr lang="en-US" dirty="0" err="1"/>
              <a:t>gmol</a:t>
            </a:r>
            <a:r>
              <a:rPr lang="en-US" dirty="0"/>
              <a:t>/</a:t>
            </a:r>
            <a:r>
              <a:rPr lang="en-US" dirty="0" err="1"/>
              <a:t>hr</a:t>
            </a:r>
            <a:endParaRPr lang="en-US" dirty="0"/>
          </a:p>
          <a:p>
            <a:r>
              <a:rPr lang="en-US" dirty="0"/>
              <a:t>F</a:t>
            </a:r>
            <a:r>
              <a:rPr lang="en-US" sz="1400" dirty="0"/>
              <a:t>A</a:t>
            </a:r>
            <a:r>
              <a:rPr lang="en-US" dirty="0"/>
              <a:t> =</a:t>
            </a:r>
            <a:r>
              <a:rPr lang="en-US" dirty="0" err="1"/>
              <a:t>F</a:t>
            </a:r>
            <a:r>
              <a:rPr lang="en-US" sz="1400" dirty="0" err="1"/>
              <a:t>ao</a:t>
            </a:r>
            <a:r>
              <a:rPr lang="en-US" dirty="0"/>
              <a:t> (1-X</a:t>
            </a:r>
            <a:r>
              <a:rPr lang="en-US" sz="1400" dirty="0"/>
              <a:t>A</a:t>
            </a:r>
            <a:r>
              <a:rPr lang="en-US" dirty="0"/>
              <a:t>) = 300.725(1-0.5) =150.362</a:t>
            </a:r>
          </a:p>
          <a:p>
            <a:r>
              <a:rPr lang="en-US" dirty="0"/>
              <a:t>X(dissolution) at 45C,5 bar 600rpm in one hour taken a 50%.</a:t>
            </a:r>
            <a:endParaRPr lang="en-PK" dirty="0"/>
          </a:p>
        </p:txBody>
      </p:sp>
    </p:spTree>
    <p:extLst>
      <p:ext uri="{BB962C8B-B14F-4D97-AF65-F5344CB8AC3E}">
        <p14:creationId xmlns:p14="http://schemas.microsoft.com/office/powerpoint/2010/main" val="2048942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7D153-68C8-446A-B486-28E97F64EF68}"/>
              </a:ext>
            </a:extLst>
          </p:cNvPr>
          <p:cNvSpPr>
            <a:spLocks noGrp="1"/>
          </p:cNvSpPr>
          <p:nvPr>
            <p:ph type="title"/>
          </p:nvPr>
        </p:nvSpPr>
        <p:spPr/>
        <p:txBody>
          <a:bodyPr/>
          <a:lstStyle/>
          <a:p>
            <a:r>
              <a:rPr lang="en-US" dirty="0"/>
              <a:t>Contin….</a:t>
            </a:r>
            <a:br>
              <a:rPr lang="en-US" dirty="0"/>
            </a:br>
            <a:endParaRPr lang="en-PK" dirty="0"/>
          </a:p>
        </p:txBody>
      </p:sp>
      <p:sp>
        <p:nvSpPr>
          <p:cNvPr id="3" name="Content Placeholder 2">
            <a:extLst>
              <a:ext uri="{FF2B5EF4-FFF2-40B4-BE49-F238E27FC236}">
                <a16:creationId xmlns:a16="http://schemas.microsoft.com/office/drawing/2014/main" id="{98BDCBE0-CC74-431B-ACEF-5B63E4293EF0}"/>
              </a:ext>
            </a:extLst>
          </p:cNvPr>
          <p:cNvSpPr>
            <a:spLocks noGrp="1"/>
          </p:cNvSpPr>
          <p:nvPr>
            <p:ph idx="1"/>
          </p:nvPr>
        </p:nvSpPr>
        <p:spPr/>
        <p:txBody>
          <a:bodyPr/>
          <a:lstStyle/>
          <a:p>
            <a:r>
              <a:rPr lang="en-US" b="1" dirty="0"/>
              <a:t>C2O Balance</a:t>
            </a:r>
          </a:p>
          <a:p>
            <a:r>
              <a:rPr lang="en-US" dirty="0"/>
              <a:t>F</a:t>
            </a:r>
            <a:r>
              <a:rPr lang="en-US" sz="1400" dirty="0"/>
              <a:t>B </a:t>
            </a:r>
            <a:r>
              <a:rPr lang="en-US" dirty="0"/>
              <a:t>= F</a:t>
            </a:r>
            <a:r>
              <a:rPr lang="en-US" sz="1400" dirty="0"/>
              <a:t>B0 </a:t>
            </a:r>
            <a:r>
              <a:rPr lang="en-US" dirty="0"/>
              <a:t>–F</a:t>
            </a:r>
            <a:r>
              <a:rPr lang="en-US" sz="1400" dirty="0"/>
              <a:t>A0 </a:t>
            </a:r>
            <a:r>
              <a:rPr lang="en-US" dirty="0" err="1"/>
              <a:t>X</a:t>
            </a:r>
            <a:r>
              <a:rPr lang="en-US" sz="1400" dirty="0" err="1"/>
              <a:t>a</a:t>
            </a:r>
            <a:r>
              <a:rPr lang="en-US" sz="1400" dirty="0"/>
              <a:t> </a:t>
            </a:r>
            <a:r>
              <a:rPr lang="en-US" dirty="0"/>
              <a:t>(b/a)</a:t>
            </a:r>
          </a:p>
          <a:p>
            <a:r>
              <a:rPr lang="en-US" dirty="0" err="1"/>
              <a:t>Lizardite</a:t>
            </a:r>
            <a:r>
              <a:rPr lang="en-US" dirty="0"/>
              <a:t> and CO</a:t>
            </a:r>
            <a:r>
              <a:rPr lang="en-US" baseline="-25000" dirty="0"/>
              <a:t>2</a:t>
            </a:r>
            <a:r>
              <a:rPr lang="en-US" dirty="0"/>
              <a:t> reaction</a:t>
            </a:r>
          </a:p>
          <a:p>
            <a:r>
              <a:rPr lang="en-US" dirty="0"/>
              <a:t>MgSiO</a:t>
            </a:r>
            <a:r>
              <a:rPr lang="en-US" baseline="-25000" dirty="0"/>
              <a:t>2</a:t>
            </a:r>
            <a:r>
              <a:rPr lang="en-US" dirty="0"/>
              <a:t>O</a:t>
            </a:r>
            <a:r>
              <a:rPr lang="en-US" baseline="-25000" dirty="0"/>
              <a:t>5</a:t>
            </a:r>
            <a:r>
              <a:rPr lang="en-US" dirty="0"/>
              <a:t>(OH)</a:t>
            </a:r>
            <a:r>
              <a:rPr lang="en-US" baseline="-25000" dirty="0"/>
              <a:t>4</a:t>
            </a:r>
            <a:r>
              <a:rPr lang="en-US" dirty="0"/>
              <a:t>      + 3CO</a:t>
            </a:r>
            <a:r>
              <a:rPr lang="en-US" baseline="-25000" dirty="0"/>
              <a:t>2</a:t>
            </a:r>
            <a:r>
              <a:rPr lang="en-US" dirty="0"/>
              <a:t>          3MgCO</a:t>
            </a:r>
            <a:r>
              <a:rPr lang="en-US" baseline="-25000" dirty="0"/>
              <a:t>3</a:t>
            </a:r>
            <a:r>
              <a:rPr lang="en-US" dirty="0"/>
              <a:t> + 2SiO</a:t>
            </a:r>
            <a:r>
              <a:rPr lang="en-US" baseline="-25000" dirty="0"/>
              <a:t>2</a:t>
            </a:r>
            <a:r>
              <a:rPr lang="en-US" dirty="0"/>
              <a:t> + H</a:t>
            </a:r>
            <a:r>
              <a:rPr lang="en-US" baseline="-25000" dirty="0"/>
              <a:t>2</a:t>
            </a:r>
            <a:r>
              <a:rPr lang="en-US" dirty="0"/>
              <a:t>O + 64KJ/mol</a:t>
            </a:r>
          </a:p>
          <a:p>
            <a:r>
              <a:rPr lang="en-US" dirty="0"/>
              <a:t>F</a:t>
            </a:r>
            <a:r>
              <a:rPr lang="en-US" sz="1400" dirty="0"/>
              <a:t>b0 </a:t>
            </a:r>
            <a:r>
              <a:rPr lang="en-US" dirty="0"/>
              <a:t>= CO</a:t>
            </a:r>
            <a:r>
              <a:rPr lang="en-US" baseline="-25000" dirty="0"/>
              <a:t>2</a:t>
            </a:r>
            <a:r>
              <a:rPr lang="en-US" dirty="0"/>
              <a:t> in feed/M.W of CO</a:t>
            </a:r>
            <a:r>
              <a:rPr lang="en-US" baseline="-25000" dirty="0"/>
              <a:t>2</a:t>
            </a:r>
            <a:r>
              <a:rPr lang="en-US" dirty="0"/>
              <a:t> = 41667/44= 946.96 </a:t>
            </a:r>
            <a:r>
              <a:rPr lang="en-US" dirty="0" err="1"/>
              <a:t>gmol</a:t>
            </a:r>
            <a:r>
              <a:rPr lang="en-US" dirty="0"/>
              <a:t>/h</a:t>
            </a:r>
          </a:p>
          <a:p>
            <a:r>
              <a:rPr lang="en-US" dirty="0"/>
              <a:t>F</a:t>
            </a:r>
            <a:r>
              <a:rPr lang="en-US" sz="1400" dirty="0"/>
              <a:t>b </a:t>
            </a:r>
            <a:r>
              <a:rPr lang="en-US" dirty="0"/>
              <a:t>=946.96-(300.725)(0.5)(5)</a:t>
            </a:r>
          </a:p>
          <a:p>
            <a:r>
              <a:rPr lang="en-US" dirty="0"/>
              <a:t>    =195.14moles/h</a:t>
            </a:r>
          </a:p>
          <a:p>
            <a:endParaRPr lang="en-US" dirty="0"/>
          </a:p>
          <a:p>
            <a:endParaRPr lang="en-US" dirty="0"/>
          </a:p>
          <a:p>
            <a:endParaRPr lang="en-PK" dirty="0"/>
          </a:p>
        </p:txBody>
      </p:sp>
      <p:sp>
        <p:nvSpPr>
          <p:cNvPr id="7" name="Arrow: Right 6">
            <a:extLst>
              <a:ext uri="{FF2B5EF4-FFF2-40B4-BE49-F238E27FC236}">
                <a16:creationId xmlns:a16="http://schemas.microsoft.com/office/drawing/2014/main" id="{9574A29C-F71C-4F72-9A0C-3BB58F7D63AA}"/>
              </a:ext>
            </a:extLst>
          </p:cNvPr>
          <p:cNvSpPr/>
          <p:nvPr/>
        </p:nvSpPr>
        <p:spPr>
          <a:xfrm>
            <a:off x="5957454" y="3049205"/>
            <a:ext cx="429491" cy="2078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4075438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6079E-3CFE-413E-8DD1-2943369460C7}"/>
              </a:ext>
            </a:extLst>
          </p:cNvPr>
          <p:cNvSpPr>
            <a:spLocks noGrp="1"/>
          </p:cNvSpPr>
          <p:nvPr>
            <p:ph type="title"/>
          </p:nvPr>
        </p:nvSpPr>
        <p:spPr/>
        <p:txBody>
          <a:bodyPr/>
          <a:lstStyle/>
          <a:p>
            <a:r>
              <a:rPr lang="en-US" dirty="0"/>
              <a:t>Contin….</a:t>
            </a:r>
            <a:br>
              <a:rPr lang="en-US" dirty="0"/>
            </a:br>
            <a:endParaRPr lang="en-PK" dirty="0"/>
          </a:p>
        </p:txBody>
      </p:sp>
      <p:sp>
        <p:nvSpPr>
          <p:cNvPr id="3" name="Content Placeholder 2">
            <a:extLst>
              <a:ext uri="{FF2B5EF4-FFF2-40B4-BE49-F238E27FC236}">
                <a16:creationId xmlns:a16="http://schemas.microsoft.com/office/drawing/2014/main" id="{637ABF35-F48D-4819-A526-AC8FF8767243}"/>
              </a:ext>
            </a:extLst>
          </p:cNvPr>
          <p:cNvSpPr>
            <a:spLocks noGrp="1"/>
          </p:cNvSpPr>
          <p:nvPr>
            <p:ph idx="1"/>
          </p:nvPr>
        </p:nvSpPr>
        <p:spPr>
          <a:xfrm>
            <a:off x="1371599" y="1484671"/>
            <a:ext cx="10183091" cy="5082384"/>
          </a:xfrm>
        </p:spPr>
        <p:txBody>
          <a:bodyPr/>
          <a:lstStyle/>
          <a:p>
            <a:r>
              <a:rPr lang="en-US" b="1" dirty="0"/>
              <a:t>MgCO3 Balance</a:t>
            </a:r>
          </a:p>
          <a:p>
            <a:r>
              <a:rPr lang="en-US" dirty="0"/>
              <a:t>Fc = </a:t>
            </a:r>
            <a:r>
              <a:rPr lang="en-US" dirty="0" err="1"/>
              <a:t>Fco-FaoXa</a:t>
            </a:r>
            <a:r>
              <a:rPr lang="en-US" dirty="0"/>
              <a:t>(c/a)</a:t>
            </a:r>
          </a:p>
          <a:p>
            <a:r>
              <a:rPr lang="en-US" dirty="0"/>
              <a:t>MgCO3 was not initially present. So, </a:t>
            </a:r>
            <a:r>
              <a:rPr lang="en-US" dirty="0" err="1"/>
              <a:t>Fco</a:t>
            </a:r>
            <a:r>
              <a:rPr lang="en-US" dirty="0"/>
              <a:t>=0</a:t>
            </a:r>
          </a:p>
          <a:p>
            <a:r>
              <a:rPr lang="en-US" dirty="0"/>
              <a:t>Fc=0+300.725(0.5)(3)</a:t>
            </a:r>
          </a:p>
          <a:p>
            <a:r>
              <a:rPr lang="en-US" dirty="0"/>
              <a:t>Fc=451.087moles/h</a:t>
            </a:r>
          </a:p>
          <a:p>
            <a:r>
              <a:rPr lang="en-US" b="1" dirty="0"/>
              <a:t>SiO2 Balance</a:t>
            </a:r>
          </a:p>
          <a:p>
            <a:r>
              <a:rPr lang="en-US" dirty="0" err="1"/>
              <a:t>Fd</a:t>
            </a:r>
            <a:r>
              <a:rPr lang="en-US" dirty="0"/>
              <a:t>= </a:t>
            </a:r>
            <a:r>
              <a:rPr lang="en-US" dirty="0" err="1"/>
              <a:t>Fdo-FaoXa</a:t>
            </a:r>
            <a:r>
              <a:rPr lang="en-US" dirty="0"/>
              <a:t>(d/a)</a:t>
            </a:r>
          </a:p>
          <a:p>
            <a:r>
              <a:rPr lang="en-US" dirty="0" err="1"/>
              <a:t>Fdo</a:t>
            </a:r>
            <a:r>
              <a:rPr lang="en-US" dirty="0"/>
              <a:t>=0</a:t>
            </a:r>
          </a:p>
          <a:p>
            <a:r>
              <a:rPr lang="en-US" dirty="0" err="1"/>
              <a:t>Fd</a:t>
            </a:r>
            <a:r>
              <a:rPr lang="en-US" dirty="0"/>
              <a:t>=300.725(0.5)(2)</a:t>
            </a:r>
          </a:p>
          <a:p>
            <a:r>
              <a:rPr lang="en-US" dirty="0" err="1"/>
              <a:t>Fd</a:t>
            </a:r>
            <a:r>
              <a:rPr lang="en-US" dirty="0"/>
              <a:t>=300.725moles/h</a:t>
            </a:r>
          </a:p>
          <a:p>
            <a:pPr marL="0" indent="0">
              <a:buNone/>
            </a:pPr>
            <a:r>
              <a:rPr lang="en-US" b="1" dirty="0"/>
              <a:t>                     </a:t>
            </a:r>
            <a:endParaRPr lang="en-PK" b="1" dirty="0"/>
          </a:p>
        </p:txBody>
      </p:sp>
    </p:spTree>
    <p:extLst>
      <p:ext uri="{BB962C8B-B14F-4D97-AF65-F5344CB8AC3E}">
        <p14:creationId xmlns:p14="http://schemas.microsoft.com/office/powerpoint/2010/main" val="3060086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E59F-906A-4E6E-A439-DB46A08D6FF7}"/>
              </a:ext>
            </a:extLst>
          </p:cNvPr>
          <p:cNvSpPr>
            <a:spLocks noGrp="1"/>
          </p:cNvSpPr>
          <p:nvPr>
            <p:ph type="title"/>
          </p:nvPr>
        </p:nvSpPr>
        <p:spPr/>
        <p:txBody>
          <a:bodyPr/>
          <a:lstStyle/>
          <a:p>
            <a:r>
              <a:rPr lang="en-US" dirty="0"/>
              <a:t>Contin….</a:t>
            </a:r>
            <a:br>
              <a:rPr lang="en-US" dirty="0"/>
            </a:br>
            <a:endParaRPr lang="en-PK" dirty="0"/>
          </a:p>
        </p:txBody>
      </p:sp>
      <p:sp>
        <p:nvSpPr>
          <p:cNvPr id="3" name="Content Placeholder 2">
            <a:extLst>
              <a:ext uri="{FF2B5EF4-FFF2-40B4-BE49-F238E27FC236}">
                <a16:creationId xmlns:a16="http://schemas.microsoft.com/office/drawing/2014/main" id="{C5203DC6-3F33-4C17-9EF6-CD961ADEE849}"/>
              </a:ext>
            </a:extLst>
          </p:cNvPr>
          <p:cNvSpPr>
            <a:spLocks noGrp="1"/>
          </p:cNvSpPr>
          <p:nvPr>
            <p:ph idx="1"/>
          </p:nvPr>
        </p:nvSpPr>
        <p:spPr>
          <a:xfrm>
            <a:off x="1371599" y="1484670"/>
            <a:ext cx="10446328" cy="5373329"/>
          </a:xfrm>
        </p:spPr>
        <p:txBody>
          <a:bodyPr/>
          <a:lstStyle/>
          <a:p>
            <a:r>
              <a:rPr lang="en-US" b="1" dirty="0"/>
              <a:t>In product stream</a:t>
            </a:r>
          </a:p>
          <a:p>
            <a:r>
              <a:rPr lang="en-US" dirty="0" err="1"/>
              <a:t>Lizardite</a:t>
            </a:r>
            <a:r>
              <a:rPr lang="en-US" dirty="0"/>
              <a:t>=150.3625moles/h(277.11g/moles)=41.66kg/h</a:t>
            </a:r>
          </a:p>
          <a:p>
            <a:r>
              <a:rPr lang="en-US" b="1" dirty="0"/>
              <a:t>CO</a:t>
            </a:r>
            <a:r>
              <a:rPr lang="en-US" b="1" baseline="-25000" dirty="0"/>
              <a:t>2</a:t>
            </a:r>
          </a:p>
          <a:p>
            <a:r>
              <a:rPr lang="en-US" dirty="0"/>
              <a:t>195.14(44)= 8.58kg/h</a:t>
            </a:r>
          </a:p>
          <a:p>
            <a:r>
              <a:rPr lang="en-US" b="1" dirty="0"/>
              <a:t>MgCO</a:t>
            </a:r>
            <a:r>
              <a:rPr lang="en-US" b="1" baseline="-25000" dirty="0"/>
              <a:t>3</a:t>
            </a:r>
          </a:p>
          <a:p>
            <a:r>
              <a:rPr lang="en-US" dirty="0"/>
              <a:t>451.0875(84)=37.89kg/h</a:t>
            </a:r>
          </a:p>
          <a:p>
            <a:r>
              <a:rPr lang="en-US" b="1" dirty="0"/>
              <a:t>SiO</a:t>
            </a:r>
            <a:r>
              <a:rPr lang="en-US" b="1" baseline="-25000" dirty="0"/>
              <a:t>2</a:t>
            </a:r>
          </a:p>
          <a:p>
            <a:r>
              <a:rPr lang="en-US" dirty="0"/>
              <a:t>300.725(60)= 18.043kg/h</a:t>
            </a:r>
          </a:p>
          <a:p>
            <a:r>
              <a:rPr lang="en-US" dirty="0"/>
              <a:t>We apply CO2 balance assuming that CO2 removed from the reactor is 99% pure </a:t>
            </a:r>
            <a:endParaRPr lang="en-PK" dirty="0"/>
          </a:p>
        </p:txBody>
      </p:sp>
    </p:spTree>
    <p:extLst>
      <p:ext uri="{BB962C8B-B14F-4D97-AF65-F5344CB8AC3E}">
        <p14:creationId xmlns:p14="http://schemas.microsoft.com/office/powerpoint/2010/main" val="726179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7C375-BC6A-4E74-A0AD-0DCD727A73AB}"/>
              </a:ext>
            </a:extLst>
          </p:cNvPr>
          <p:cNvSpPr>
            <a:spLocks noGrp="1"/>
          </p:cNvSpPr>
          <p:nvPr>
            <p:ph type="title"/>
          </p:nvPr>
        </p:nvSpPr>
        <p:spPr/>
        <p:txBody>
          <a:bodyPr/>
          <a:lstStyle/>
          <a:p>
            <a:r>
              <a:rPr lang="en-US" dirty="0"/>
              <a:t>Contin….</a:t>
            </a:r>
            <a:endParaRPr lang="en-PK" dirty="0"/>
          </a:p>
        </p:txBody>
      </p:sp>
      <p:sp>
        <p:nvSpPr>
          <p:cNvPr id="3" name="Content Placeholder 2">
            <a:extLst>
              <a:ext uri="{FF2B5EF4-FFF2-40B4-BE49-F238E27FC236}">
                <a16:creationId xmlns:a16="http://schemas.microsoft.com/office/drawing/2014/main" id="{7854BB95-0711-4D2C-A7B9-AF7B979B9CCA}"/>
              </a:ext>
            </a:extLst>
          </p:cNvPr>
          <p:cNvSpPr>
            <a:spLocks noGrp="1"/>
          </p:cNvSpPr>
          <p:nvPr>
            <p:ph idx="1"/>
          </p:nvPr>
        </p:nvSpPr>
        <p:spPr>
          <a:xfrm>
            <a:off x="1371600" y="1484671"/>
            <a:ext cx="9601200" cy="4382729"/>
          </a:xfrm>
        </p:spPr>
        <p:txBody>
          <a:bodyPr/>
          <a:lstStyle/>
          <a:p>
            <a:r>
              <a:rPr lang="en-US" dirty="0"/>
              <a:t>0.99H=8.58</a:t>
            </a:r>
          </a:p>
          <a:p>
            <a:r>
              <a:rPr lang="en-US" dirty="0"/>
              <a:t>H=8.66kg/h</a:t>
            </a:r>
          </a:p>
          <a:p>
            <a:r>
              <a:rPr lang="en-US" dirty="0"/>
              <a:t>I=4244.61kg/h</a:t>
            </a:r>
          </a:p>
          <a:p>
            <a:r>
              <a:rPr lang="en-US" dirty="0"/>
              <a:t>Composition of the stream is</a:t>
            </a:r>
          </a:p>
          <a:p>
            <a:r>
              <a:rPr lang="en-US" dirty="0" err="1"/>
              <a:t>Lizardite</a:t>
            </a:r>
            <a:r>
              <a:rPr lang="en-US" dirty="0"/>
              <a:t>= 41.66/4244.61=0.0098</a:t>
            </a:r>
          </a:p>
          <a:p>
            <a:r>
              <a:rPr lang="en-US" dirty="0"/>
              <a:t>MgCO</a:t>
            </a:r>
            <a:r>
              <a:rPr lang="en-US" baseline="-25000" dirty="0"/>
              <a:t>3</a:t>
            </a:r>
            <a:r>
              <a:rPr lang="en-US" dirty="0"/>
              <a:t>=37.89/4244.61=0.0089</a:t>
            </a:r>
          </a:p>
          <a:p>
            <a:r>
              <a:rPr lang="en-US" dirty="0"/>
              <a:t>SiO</a:t>
            </a:r>
            <a:r>
              <a:rPr lang="en-US" baseline="-25000" dirty="0"/>
              <a:t>2</a:t>
            </a:r>
            <a:r>
              <a:rPr lang="en-US" dirty="0"/>
              <a:t>=18.043/4244.61=0.0042</a:t>
            </a:r>
          </a:p>
          <a:p>
            <a:r>
              <a:rPr lang="en-US" dirty="0"/>
              <a:t>H</a:t>
            </a:r>
            <a:r>
              <a:rPr lang="en-US" baseline="-25000" dirty="0"/>
              <a:t>2</a:t>
            </a:r>
            <a:r>
              <a:rPr lang="en-US" dirty="0"/>
              <a:t>O=4146.98/4244.61=0.977 </a:t>
            </a:r>
          </a:p>
          <a:p>
            <a:endParaRPr lang="en-PK" dirty="0"/>
          </a:p>
        </p:txBody>
      </p:sp>
    </p:spTree>
    <p:extLst>
      <p:ext uri="{BB962C8B-B14F-4D97-AF65-F5344CB8AC3E}">
        <p14:creationId xmlns:p14="http://schemas.microsoft.com/office/powerpoint/2010/main" val="150523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6268-7526-4165-B22A-BDD5D8A9A24C}"/>
              </a:ext>
            </a:extLst>
          </p:cNvPr>
          <p:cNvSpPr>
            <a:spLocks noGrp="1"/>
          </p:cNvSpPr>
          <p:nvPr>
            <p:ph type="title"/>
          </p:nvPr>
        </p:nvSpPr>
        <p:spPr/>
        <p:txBody>
          <a:bodyPr/>
          <a:lstStyle/>
          <a:p>
            <a:r>
              <a:rPr lang="en-US" dirty="0"/>
              <a:t>Contin….</a:t>
            </a:r>
            <a:endParaRPr lang="en-PK" dirty="0"/>
          </a:p>
        </p:txBody>
      </p:sp>
      <p:sp>
        <p:nvSpPr>
          <p:cNvPr id="3" name="Content Placeholder 2">
            <a:extLst>
              <a:ext uri="{FF2B5EF4-FFF2-40B4-BE49-F238E27FC236}">
                <a16:creationId xmlns:a16="http://schemas.microsoft.com/office/drawing/2014/main" id="{2F3657AF-139F-4DC5-A22D-48468FEF2947}"/>
              </a:ext>
            </a:extLst>
          </p:cNvPr>
          <p:cNvSpPr>
            <a:spLocks noGrp="1"/>
          </p:cNvSpPr>
          <p:nvPr>
            <p:ph idx="1"/>
          </p:nvPr>
        </p:nvSpPr>
        <p:spPr/>
        <p:txBody>
          <a:bodyPr/>
          <a:lstStyle/>
          <a:p>
            <a:r>
              <a:rPr lang="en-US" dirty="0"/>
              <a:t>2 streams are input 1 is slurry and other is CO</a:t>
            </a:r>
            <a:r>
              <a:rPr lang="en-US" baseline="-25000" dirty="0"/>
              <a:t>2</a:t>
            </a:r>
          </a:p>
          <a:p>
            <a:r>
              <a:rPr lang="en-US" dirty="0"/>
              <a:t>2 streams are output 1 is CO</a:t>
            </a:r>
            <a:r>
              <a:rPr lang="en-US" baseline="-25000" dirty="0"/>
              <a:t>2</a:t>
            </a:r>
            <a:r>
              <a:rPr lang="en-US" dirty="0"/>
              <a:t> and other is Product(</a:t>
            </a:r>
            <a:r>
              <a:rPr lang="en-US" dirty="0" err="1"/>
              <a:t>Nesquehonite</a:t>
            </a:r>
            <a:r>
              <a:rPr lang="en-US" dirty="0"/>
              <a:t>)</a:t>
            </a:r>
            <a:endParaRPr lang="en-PK" dirty="0"/>
          </a:p>
        </p:txBody>
      </p:sp>
      <p:graphicFrame>
        <p:nvGraphicFramePr>
          <p:cNvPr id="4" name="Object 3">
            <a:extLst>
              <a:ext uri="{FF2B5EF4-FFF2-40B4-BE49-F238E27FC236}">
                <a16:creationId xmlns:a16="http://schemas.microsoft.com/office/drawing/2014/main" id="{19263913-64CC-4FAA-9314-FCCA07648D49}"/>
              </a:ext>
            </a:extLst>
          </p:cNvPr>
          <p:cNvGraphicFramePr>
            <a:graphicFrameLocks noChangeAspect="1"/>
          </p:cNvGraphicFramePr>
          <p:nvPr>
            <p:extLst>
              <p:ext uri="{D42A27DB-BD31-4B8C-83A1-F6EECF244321}">
                <p14:modId xmlns:p14="http://schemas.microsoft.com/office/powerpoint/2010/main" val="2341974117"/>
              </p:ext>
            </p:extLst>
          </p:nvPr>
        </p:nvGraphicFramePr>
        <p:xfrm>
          <a:off x="2258351" y="2499801"/>
          <a:ext cx="8570438" cy="2977702"/>
        </p:xfrm>
        <a:graphic>
          <a:graphicData uri="http://schemas.openxmlformats.org/presentationml/2006/ole">
            <mc:AlternateContent xmlns:mc="http://schemas.openxmlformats.org/markup-compatibility/2006">
              <mc:Choice xmlns:v="urn:schemas-microsoft-com:vml" Requires="v">
                <p:oleObj spid="_x0000_s4098" name="Worksheet" r:id="rId3" imgW="4276837" imgH="1485874" progId="Excel.Sheet.12">
                  <p:embed/>
                </p:oleObj>
              </mc:Choice>
              <mc:Fallback>
                <p:oleObj name="Worksheet" r:id="rId3" imgW="4276837" imgH="1485874" progId="Excel.Sheet.12">
                  <p:embed/>
                  <p:pic>
                    <p:nvPicPr>
                      <p:cNvPr id="0" name=""/>
                      <p:cNvPicPr/>
                      <p:nvPr/>
                    </p:nvPicPr>
                    <p:blipFill>
                      <a:blip r:embed="rId4"/>
                      <a:stretch>
                        <a:fillRect/>
                      </a:stretch>
                    </p:blipFill>
                    <p:spPr>
                      <a:xfrm>
                        <a:off x="2258351" y="2499801"/>
                        <a:ext cx="8570438" cy="2977702"/>
                      </a:xfrm>
                      <a:prstGeom prst="rect">
                        <a:avLst/>
                      </a:prstGeom>
                    </p:spPr>
                  </p:pic>
                </p:oleObj>
              </mc:Fallback>
            </mc:AlternateContent>
          </a:graphicData>
        </a:graphic>
      </p:graphicFrame>
    </p:spTree>
    <p:extLst>
      <p:ext uri="{BB962C8B-B14F-4D97-AF65-F5344CB8AC3E}">
        <p14:creationId xmlns:p14="http://schemas.microsoft.com/office/powerpoint/2010/main" val="596843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267EA-5AD9-45B1-9999-9C7B430228B9}"/>
              </a:ext>
            </a:extLst>
          </p:cNvPr>
          <p:cNvSpPr>
            <a:spLocks noGrp="1"/>
          </p:cNvSpPr>
          <p:nvPr>
            <p:ph type="title"/>
          </p:nvPr>
        </p:nvSpPr>
        <p:spPr/>
        <p:txBody>
          <a:bodyPr/>
          <a:lstStyle/>
          <a:p>
            <a:r>
              <a:rPr lang="en-US" dirty="0"/>
              <a:t>Overall Material Balance</a:t>
            </a:r>
            <a:br>
              <a:rPr lang="en-US" dirty="0"/>
            </a:br>
            <a:endParaRPr lang="en-PK" dirty="0"/>
          </a:p>
        </p:txBody>
      </p:sp>
      <p:sp>
        <p:nvSpPr>
          <p:cNvPr id="3" name="Content Placeholder 2">
            <a:extLst>
              <a:ext uri="{FF2B5EF4-FFF2-40B4-BE49-F238E27FC236}">
                <a16:creationId xmlns:a16="http://schemas.microsoft.com/office/drawing/2014/main" id="{F7CBFC90-1B7A-4159-AC32-035860E2F98B}"/>
              </a:ext>
            </a:extLst>
          </p:cNvPr>
          <p:cNvSpPr>
            <a:spLocks noGrp="1"/>
          </p:cNvSpPr>
          <p:nvPr>
            <p:ph idx="1"/>
          </p:nvPr>
        </p:nvSpPr>
        <p:spPr/>
        <p:txBody>
          <a:bodyPr/>
          <a:lstStyle/>
          <a:p>
            <a:r>
              <a:rPr lang="en-US" dirty="0"/>
              <a:t>2 streams are input 1 is CO</a:t>
            </a:r>
            <a:r>
              <a:rPr lang="en-US" baseline="-25000" dirty="0"/>
              <a:t>2</a:t>
            </a:r>
            <a:r>
              <a:rPr lang="en-US" dirty="0"/>
              <a:t> and other is Slurry</a:t>
            </a:r>
          </a:p>
          <a:p>
            <a:r>
              <a:rPr lang="en-US" dirty="0"/>
              <a:t>3 streams are output N</a:t>
            </a:r>
            <a:r>
              <a:rPr lang="en-US" baseline="-25000" dirty="0"/>
              <a:t>2</a:t>
            </a:r>
            <a:r>
              <a:rPr lang="en-US" dirty="0"/>
              <a:t>,H</a:t>
            </a:r>
            <a:r>
              <a:rPr lang="en-US" baseline="-25000" dirty="0"/>
              <a:t>2</a:t>
            </a:r>
            <a:r>
              <a:rPr lang="en-US" dirty="0"/>
              <a:t>O and our product(</a:t>
            </a:r>
            <a:r>
              <a:rPr lang="en-US" dirty="0" err="1"/>
              <a:t>nesquehonite</a:t>
            </a:r>
            <a:r>
              <a:rPr lang="en-US" dirty="0"/>
              <a:t>)  </a:t>
            </a:r>
          </a:p>
          <a:p>
            <a:endParaRPr lang="en-PK" dirty="0"/>
          </a:p>
        </p:txBody>
      </p:sp>
      <p:graphicFrame>
        <p:nvGraphicFramePr>
          <p:cNvPr id="4" name="Object 3">
            <a:extLst>
              <a:ext uri="{FF2B5EF4-FFF2-40B4-BE49-F238E27FC236}">
                <a16:creationId xmlns:a16="http://schemas.microsoft.com/office/drawing/2014/main" id="{3F23296A-6E0A-43A2-9C71-F86331438A7B}"/>
              </a:ext>
            </a:extLst>
          </p:cNvPr>
          <p:cNvGraphicFramePr>
            <a:graphicFrameLocks noChangeAspect="1"/>
          </p:cNvGraphicFramePr>
          <p:nvPr>
            <p:extLst>
              <p:ext uri="{D42A27DB-BD31-4B8C-83A1-F6EECF244321}">
                <p14:modId xmlns:p14="http://schemas.microsoft.com/office/powerpoint/2010/main" val="2808840251"/>
              </p:ext>
            </p:extLst>
          </p:nvPr>
        </p:nvGraphicFramePr>
        <p:xfrm>
          <a:off x="1738745" y="2597789"/>
          <a:ext cx="8866909" cy="3574411"/>
        </p:xfrm>
        <a:graphic>
          <a:graphicData uri="http://schemas.openxmlformats.org/presentationml/2006/ole">
            <mc:AlternateContent xmlns:mc="http://schemas.openxmlformats.org/markup-compatibility/2006">
              <mc:Choice xmlns:v="urn:schemas-microsoft-com:vml" Requires="v">
                <p:oleObj spid="_x0000_s5122" name="Worksheet" r:id="rId3" imgW="4276837" imgH="1723935" progId="Excel.Sheet.12">
                  <p:embed/>
                </p:oleObj>
              </mc:Choice>
              <mc:Fallback>
                <p:oleObj name="Worksheet" r:id="rId3" imgW="4276837" imgH="1723935" progId="Excel.Sheet.12">
                  <p:embed/>
                  <p:pic>
                    <p:nvPicPr>
                      <p:cNvPr id="0" name=""/>
                      <p:cNvPicPr/>
                      <p:nvPr/>
                    </p:nvPicPr>
                    <p:blipFill>
                      <a:blip r:embed="rId4"/>
                      <a:stretch>
                        <a:fillRect/>
                      </a:stretch>
                    </p:blipFill>
                    <p:spPr>
                      <a:xfrm>
                        <a:off x="1738745" y="2597789"/>
                        <a:ext cx="8866909" cy="3574411"/>
                      </a:xfrm>
                      <a:prstGeom prst="rect">
                        <a:avLst/>
                      </a:prstGeom>
                    </p:spPr>
                  </p:pic>
                </p:oleObj>
              </mc:Fallback>
            </mc:AlternateContent>
          </a:graphicData>
        </a:graphic>
      </p:graphicFrame>
    </p:spTree>
    <p:extLst>
      <p:ext uri="{BB962C8B-B14F-4D97-AF65-F5344CB8AC3E}">
        <p14:creationId xmlns:p14="http://schemas.microsoft.com/office/powerpoint/2010/main" val="2463344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4000" r="-3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8594-E3E7-4921-BB26-C93A4252F5E9}"/>
              </a:ext>
            </a:extLst>
          </p:cNvPr>
          <p:cNvSpPr>
            <a:spLocks noGrp="1"/>
          </p:cNvSpPr>
          <p:nvPr>
            <p:ph type="ctrTitle"/>
          </p:nvPr>
        </p:nvSpPr>
        <p:spPr/>
        <p:txBody>
          <a:bodyPr/>
          <a:lstStyle/>
          <a:p>
            <a:r>
              <a:rPr lang="en-US" dirty="0">
                <a:latin typeface="Impact" panose="020B0806030902050204" pitchFamily="34" charset="0"/>
              </a:rPr>
              <a:t>Energy</a:t>
            </a:r>
            <a:r>
              <a:rPr lang="en-US" cap="none" dirty="0">
                <a:latin typeface="Impact" panose="020B0806030902050204" pitchFamily="34" charset="0"/>
              </a:rPr>
              <a:t> Balance</a:t>
            </a:r>
          </a:p>
        </p:txBody>
      </p:sp>
    </p:spTree>
    <p:extLst>
      <p:ext uri="{BB962C8B-B14F-4D97-AF65-F5344CB8AC3E}">
        <p14:creationId xmlns:p14="http://schemas.microsoft.com/office/powerpoint/2010/main" val="184216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D0F2D-6981-4319-9A37-0997381C0A8F}"/>
              </a:ext>
            </a:extLst>
          </p:cNvPr>
          <p:cNvSpPr>
            <a:spLocks noGrp="1"/>
          </p:cNvSpPr>
          <p:nvPr>
            <p:ph type="title"/>
          </p:nvPr>
        </p:nvSpPr>
        <p:spPr/>
        <p:txBody>
          <a:bodyPr/>
          <a:lstStyle/>
          <a:p>
            <a:r>
              <a:rPr lang="en-US" dirty="0"/>
              <a:t>Overall energy balance </a:t>
            </a:r>
            <a:endParaRPr lang="en-PK" dirty="0"/>
          </a:p>
        </p:txBody>
      </p:sp>
      <p:sp>
        <p:nvSpPr>
          <p:cNvPr id="3" name="Content Placeholder 2">
            <a:extLst>
              <a:ext uri="{FF2B5EF4-FFF2-40B4-BE49-F238E27FC236}">
                <a16:creationId xmlns:a16="http://schemas.microsoft.com/office/drawing/2014/main" id="{1B7CE8B7-CC12-4CB6-BCE7-27FFEE09DE81}"/>
              </a:ext>
            </a:extLst>
          </p:cNvPr>
          <p:cNvSpPr>
            <a:spLocks noGrp="1"/>
          </p:cNvSpPr>
          <p:nvPr>
            <p:ph idx="1"/>
          </p:nvPr>
        </p:nvSpPr>
        <p:spPr/>
        <p:txBody>
          <a:bodyPr/>
          <a:lstStyle/>
          <a:p>
            <a:r>
              <a:rPr lang="en-US" dirty="0"/>
              <a:t>Streams similar to material</a:t>
            </a:r>
            <a:endParaRPr lang="en-PK" dirty="0"/>
          </a:p>
        </p:txBody>
      </p:sp>
      <p:graphicFrame>
        <p:nvGraphicFramePr>
          <p:cNvPr id="21" name="Object 20">
            <a:extLst>
              <a:ext uri="{FF2B5EF4-FFF2-40B4-BE49-F238E27FC236}">
                <a16:creationId xmlns:a16="http://schemas.microsoft.com/office/drawing/2014/main" id="{B1F962F9-D817-4A0E-8E31-0C0054CA3C2F}"/>
              </a:ext>
            </a:extLst>
          </p:cNvPr>
          <p:cNvGraphicFramePr>
            <a:graphicFrameLocks noChangeAspect="1"/>
          </p:cNvGraphicFramePr>
          <p:nvPr>
            <p:extLst>
              <p:ext uri="{D42A27DB-BD31-4B8C-83A1-F6EECF244321}">
                <p14:modId xmlns:p14="http://schemas.microsoft.com/office/powerpoint/2010/main" val="1064942659"/>
              </p:ext>
            </p:extLst>
          </p:nvPr>
        </p:nvGraphicFramePr>
        <p:xfrm>
          <a:off x="1787258" y="2166702"/>
          <a:ext cx="8769883" cy="3572915"/>
        </p:xfrm>
        <a:graphic>
          <a:graphicData uri="http://schemas.openxmlformats.org/presentationml/2006/ole">
            <mc:AlternateContent xmlns:mc="http://schemas.openxmlformats.org/markup-compatibility/2006">
              <mc:Choice xmlns:v="urn:schemas-microsoft-com:vml" Requires="v">
                <p:oleObj spid="_x0000_s6146" name="Worksheet" r:id="rId3" imgW="4886129" imgH="1990749" progId="Excel.Sheet.12">
                  <p:embed/>
                </p:oleObj>
              </mc:Choice>
              <mc:Fallback>
                <p:oleObj name="Worksheet" r:id="rId3" imgW="4886129" imgH="1990749" progId="Excel.Sheet.12">
                  <p:embed/>
                  <p:pic>
                    <p:nvPicPr>
                      <p:cNvPr id="0" name=""/>
                      <p:cNvPicPr/>
                      <p:nvPr/>
                    </p:nvPicPr>
                    <p:blipFill>
                      <a:blip r:embed="rId4"/>
                      <a:stretch>
                        <a:fillRect/>
                      </a:stretch>
                    </p:blipFill>
                    <p:spPr>
                      <a:xfrm>
                        <a:off x="1787258" y="2166702"/>
                        <a:ext cx="8769883" cy="3572915"/>
                      </a:xfrm>
                      <a:prstGeom prst="rect">
                        <a:avLst/>
                      </a:prstGeom>
                    </p:spPr>
                  </p:pic>
                </p:oleObj>
              </mc:Fallback>
            </mc:AlternateContent>
          </a:graphicData>
        </a:graphic>
      </p:graphicFrame>
    </p:spTree>
    <p:extLst>
      <p:ext uri="{BB962C8B-B14F-4D97-AF65-F5344CB8AC3E}">
        <p14:creationId xmlns:p14="http://schemas.microsoft.com/office/powerpoint/2010/main" val="1895081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0451-148F-4B0F-A574-A73DF77AC5C1}"/>
              </a:ext>
            </a:extLst>
          </p:cNvPr>
          <p:cNvSpPr>
            <a:spLocks noGrp="1"/>
          </p:cNvSpPr>
          <p:nvPr>
            <p:ph type="title"/>
          </p:nvPr>
        </p:nvSpPr>
        <p:spPr/>
        <p:txBody>
          <a:bodyPr/>
          <a:lstStyle/>
          <a:p>
            <a:r>
              <a:rPr lang="en-US" dirty="0"/>
              <a:t>Adsorber balance</a:t>
            </a:r>
            <a:endParaRPr lang="en-PK" dirty="0"/>
          </a:p>
        </p:txBody>
      </p:sp>
      <p:sp>
        <p:nvSpPr>
          <p:cNvPr id="3" name="Content Placeholder 2">
            <a:extLst>
              <a:ext uri="{FF2B5EF4-FFF2-40B4-BE49-F238E27FC236}">
                <a16:creationId xmlns:a16="http://schemas.microsoft.com/office/drawing/2014/main" id="{60185775-C050-48A3-A11C-53C862ED6163}"/>
              </a:ext>
            </a:extLst>
          </p:cNvPr>
          <p:cNvSpPr>
            <a:spLocks noGrp="1"/>
          </p:cNvSpPr>
          <p:nvPr>
            <p:ph idx="1"/>
          </p:nvPr>
        </p:nvSpPr>
        <p:spPr/>
        <p:txBody>
          <a:bodyPr/>
          <a:lstStyle/>
          <a:p>
            <a:r>
              <a:rPr lang="en-US" dirty="0"/>
              <a:t>Streams similar to material</a:t>
            </a:r>
            <a:endParaRPr lang="en-PK" dirty="0"/>
          </a:p>
        </p:txBody>
      </p:sp>
      <p:graphicFrame>
        <p:nvGraphicFramePr>
          <p:cNvPr id="4" name="Object 3">
            <a:extLst>
              <a:ext uri="{FF2B5EF4-FFF2-40B4-BE49-F238E27FC236}">
                <a16:creationId xmlns:a16="http://schemas.microsoft.com/office/drawing/2014/main" id="{D57B9A97-A1E6-4706-9759-3F8F8AA54A80}"/>
              </a:ext>
            </a:extLst>
          </p:cNvPr>
          <p:cNvGraphicFramePr>
            <a:graphicFrameLocks noChangeAspect="1"/>
          </p:cNvGraphicFramePr>
          <p:nvPr>
            <p:extLst>
              <p:ext uri="{D42A27DB-BD31-4B8C-83A1-F6EECF244321}">
                <p14:modId xmlns:p14="http://schemas.microsoft.com/office/powerpoint/2010/main" val="2869309796"/>
              </p:ext>
            </p:extLst>
          </p:nvPr>
        </p:nvGraphicFramePr>
        <p:xfrm>
          <a:off x="6403144" y="1484671"/>
          <a:ext cx="4417256" cy="5212791"/>
        </p:xfrm>
        <a:graphic>
          <a:graphicData uri="http://schemas.openxmlformats.org/presentationml/2006/ole">
            <mc:AlternateContent xmlns:mc="http://schemas.openxmlformats.org/markup-compatibility/2006">
              <mc:Choice xmlns:v="urn:schemas-microsoft-com:vml" Requires="v">
                <p:oleObj spid="_x0000_s7170" name="Worksheet" r:id="rId3" imgW="3057410" imgH="5600568" progId="Excel.Sheet.12">
                  <p:embed/>
                </p:oleObj>
              </mc:Choice>
              <mc:Fallback>
                <p:oleObj name="Worksheet" r:id="rId3" imgW="3057410" imgH="5600568" progId="Excel.Sheet.12">
                  <p:embed/>
                  <p:pic>
                    <p:nvPicPr>
                      <p:cNvPr id="0" name=""/>
                      <p:cNvPicPr/>
                      <p:nvPr/>
                    </p:nvPicPr>
                    <p:blipFill>
                      <a:blip r:embed="rId4"/>
                      <a:stretch>
                        <a:fillRect/>
                      </a:stretch>
                    </p:blipFill>
                    <p:spPr>
                      <a:xfrm>
                        <a:off x="6403144" y="1484671"/>
                        <a:ext cx="4417256" cy="5212791"/>
                      </a:xfrm>
                      <a:prstGeom prst="rect">
                        <a:avLst/>
                      </a:prstGeom>
                    </p:spPr>
                  </p:pic>
                </p:oleObj>
              </mc:Fallback>
            </mc:AlternateContent>
          </a:graphicData>
        </a:graphic>
      </p:graphicFrame>
    </p:spTree>
    <p:extLst>
      <p:ext uri="{BB962C8B-B14F-4D97-AF65-F5344CB8AC3E}">
        <p14:creationId xmlns:p14="http://schemas.microsoft.com/office/powerpoint/2010/main" val="3409317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8776B-084D-4071-91E6-CE089FB6F8F3}"/>
              </a:ext>
            </a:extLst>
          </p:cNvPr>
          <p:cNvSpPr>
            <a:spLocks noGrp="1"/>
          </p:cNvSpPr>
          <p:nvPr>
            <p:ph type="title"/>
          </p:nvPr>
        </p:nvSpPr>
        <p:spPr/>
        <p:txBody>
          <a:bodyPr/>
          <a:lstStyle/>
          <a:p>
            <a:r>
              <a:rPr lang="en-US" dirty="0"/>
              <a:t>Stripper balance</a:t>
            </a:r>
            <a:endParaRPr lang="en-PK" dirty="0"/>
          </a:p>
        </p:txBody>
      </p:sp>
      <p:sp>
        <p:nvSpPr>
          <p:cNvPr id="3" name="Content Placeholder 2">
            <a:extLst>
              <a:ext uri="{FF2B5EF4-FFF2-40B4-BE49-F238E27FC236}">
                <a16:creationId xmlns:a16="http://schemas.microsoft.com/office/drawing/2014/main" id="{4C929A27-F50B-4173-9E13-0BDD673D30F8}"/>
              </a:ext>
            </a:extLst>
          </p:cNvPr>
          <p:cNvSpPr>
            <a:spLocks noGrp="1"/>
          </p:cNvSpPr>
          <p:nvPr>
            <p:ph idx="1"/>
          </p:nvPr>
        </p:nvSpPr>
        <p:spPr/>
        <p:txBody>
          <a:bodyPr/>
          <a:lstStyle/>
          <a:p>
            <a:r>
              <a:rPr lang="en-US" dirty="0"/>
              <a:t>Streams similar to material</a:t>
            </a:r>
            <a:endParaRPr lang="en-PK" dirty="0"/>
          </a:p>
        </p:txBody>
      </p:sp>
      <p:graphicFrame>
        <p:nvGraphicFramePr>
          <p:cNvPr id="4" name="Object 3">
            <a:extLst>
              <a:ext uri="{FF2B5EF4-FFF2-40B4-BE49-F238E27FC236}">
                <a16:creationId xmlns:a16="http://schemas.microsoft.com/office/drawing/2014/main" id="{9DA5007F-BA07-47C6-9A4F-CBAFE9D307AE}"/>
              </a:ext>
            </a:extLst>
          </p:cNvPr>
          <p:cNvGraphicFramePr>
            <a:graphicFrameLocks noChangeAspect="1"/>
          </p:cNvGraphicFramePr>
          <p:nvPr>
            <p:extLst>
              <p:ext uri="{D42A27DB-BD31-4B8C-83A1-F6EECF244321}">
                <p14:modId xmlns:p14="http://schemas.microsoft.com/office/powerpoint/2010/main" val="1757057404"/>
              </p:ext>
            </p:extLst>
          </p:nvPr>
        </p:nvGraphicFramePr>
        <p:xfrm>
          <a:off x="5877878" y="1484671"/>
          <a:ext cx="4942522" cy="4687529"/>
        </p:xfrm>
        <a:graphic>
          <a:graphicData uri="http://schemas.openxmlformats.org/presentationml/2006/ole">
            <mc:AlternateContent xmlns:mc="http://schemas.openxmlformats.org/markup-compatibility/2006">
              <mc:Choice xmlns:v="urn:schemas-microsoft-com:vml" Requires="v">
                <p:oleObj spid="_x0000_s8194" name="Worksheet" r:id="rId3" imgW="3057410" imgH="4076638" progId="Excel.Sheet.12">
                  <p:embed/>
                </p:oleObj>
              </mc:Choice>
              <mc:Fallback>
                <p:oleObj name="Worksheet" r:id="rId3" imgW="3057410" imgH="4076638" progId="Excel.Sheet.12">
                  <p:embed/>
                  <p:pic>
                    <p:nvPicPr>
                      <p:cNvPr id="0" name=""/>
                      <p:cNvPicPr/>
                      <p:nvPr/>
                    </p:nvPicPr>
                    <p:blipFill>
                      <a:blip r:embed="rId4"/>
                      <a:stretch>
                        <a:fillRect/>
                      </a:stretch>
                    </p:blipFill>
                    <p:spPr>
                      <a:xfrm>
                        <a:off x="5877878" y="1484671"/>
                        <a:ext cx="4942522" cy="4687529"/>
                      </a:xfrm>
                      <a:prstGeom prst="rect">
                        <a:avLst/>
                      </a:prstGeom>
                    </p:spPr>
                  </p:pic>
                </p:oleObj>
              </mc:Fallback>
            </mc:AlternateContent>
          </a:graphicData>
        </a:graphic>
      </p:graphicFrame>
    </p:spTree>
    <p:extLst>
      <p:ext uri="{BB962C8B-B14F-4D97-AF65-F5344CB8AC3E}">
        <p14:creationId xmlns:p14="http://schemas.microsoft.com/office/powerpoint/2010/main" val="2589731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560D-4539-40A8-8147-6B420114F426}"/>
              </a:ext>
            </a:extLst>
          </p:cNvPr>
          <p:cNvSpPr>
            <a:spLocks noGrp="1"/>
          </p:cNvSpPr>
          <p:nvPr>
            <p:ph type="title"/>
          </p:nvPr>
        </p:nvSpPr>
        <p:spPr/>
        <p:txBody>
          <a:bodyPr/>
          <a:lstStyle/>
          <a:p>
            <a:r>
              <a:rPr lang="en-US" dirty="0"/>
              <a:t>Heater balance</a:t>
            </a:r>
            <a:endParaRPr lang="en-PK" dirty="0"/>
          </a:p>
        </p:txBody>
      </p:sp>
      <p:sp>
        <p:nvSpPr>
          <p:cNvPr id="3" name="Content Placeholder 2">
            <a:extLst>
              <a:ext uri="{FF2B5EF4-FFF2-40B4-BE49-F238E27FC236}">
                <a16:creationId xmlns:a16="http://schemas.microsoft.com/office/drawing/2014/main" id="{6E833AAC-9104-45D3-A95B-00FBD79D8D4F}"/>
              </a:ext>
            </a:extLst>
          </p:cNvPr>
          <p:cNvSpPr>
            <a:spLocks noGrp="1"/>
          </p:cNvSpPr>
          <p:nvPr>
            <p:ph idx="1"/>
          </p:nvPr>
        </p:nvSpPr>
        <p:spPr/>
        <p:txBody>
          <a:bodyPr/>
          <a:lstStyle/>
          <a:p>
            <a:r>
              <a:rPr lang="en-US" dirty="0"/>
              <a:t>Streams similar to material</a:t>
            </a:r>
            <a:endParaRPr lang="en-PK" dirty="0"/>
          </a:p>
        </p:txBody>
      </p:sp>
      <p:graphicFrame>
        <p:nvGraphicFramePr>
          <p:cNvPr id="4" name="Object 3">
            <a:extLst>
              <a:ext uri="{FF2B5EF4-FFF2-40B4-BE49-F238E27FC236}">
                <a16:creationId xmlns:a16="http://schemas.microsoft.com/office/drawing/2014/main" id="{9A1C35CD-F82A-4EE5-B9A7-D27C5FABCE1F}"/>
              </a:ext>
            </a:extLst>
          </p:cNvPr>
          <p:cNvGraphicFramePr>
            <a:graphicFrameLocks noChangeAspect="1"/>
          </p:cNvGraphicFramePr>
          <p:nvPr>
            <p:extLst>
              <p:ext uri="{D42A27DB-BD31-4B8C-83A1-F6EECF244321}">
                <p14:modId xmlns:p14="http://schemas.microsoft.com/office/powerpoint/2010/main" val="2972232798"/>
              </p:ext>
            </p:extLst>
          </p:nvPr>
        </p:nvGraphicFramePr>
        <p:xfrm>
          <a:off x="1645920" y="2152357"/>
          <a:ext cx="8750105" cy="3474720"/>
        </p:xfrm>
        <a:graphic>
          <a:graphicData uri="http://schemas.openxmlformats.org/presentationml/2006/ole">
            <mc:AlternateContent xmlns:mc="http://schemas.openxmlformats.org/markup-compatibility/2006">
              <mc:Choice xmlns:v="urn:schemas-microsoft-com:vml" Requires="v">
                <p:oleObj spid="_x0000_s9218" name="Worksheet" r:id="rId3" imgW="6715269" imgH="2057559" progId="Excel.Sheet.12">
                  <p:embed/>
                </p:oleObj>
              </mc:Choice>
              <mc:Fallback>
                <p:oleObj name="Worksheet" r:id="rId3" imgW="6715269" imgH="2057559" progId="Excel.Sheet.12">
                  <p:embed/>
                  <p:pic>
                    <p:nvPicPr>
                      <p:cNvPr id="0" name=""/>
                      <p:cNvPicPr/>
                      <p:nvPr/>
                    </p:nvPicPr>
                    <p:blipFill>
                      <a:blip r:embed="rId4"/>
                      <a:stretch>
                        <a:fillRect/>
                      </a:stretch>
                    </p:blipFill>
                    <p:spPr>
                      <a:xfrm>
                        <a:off x="1645920" y="2152357"/>
                        <a:ext cx="8750105" cy="3474720"/>
                      </a:xfrm>
                      <a:prstGeom prst="rect">
                        <a:avLst/>
                      </a:prstGeom>
                    </p:spPr>
                  </p:pic>
                </p:oleObj>
              </mc:Fallback>
            </mc:AlternateContent>
          </a:graphicData>
        </a:graphic>
      </p:graphicFrame>
    </p:spTree>
    <p:extLst>
      <p:ext uri="{BB962C8B-B14F-4D97-AF65-F5344CB8AC3E}">
        <p14:creationId xmlns:p14="http://schemas.microsoft.com/office/powerpoint/2010/main" val="3752354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5BF7D-4DDB-4015-B48E-3BE1C0C51F1D}"/>
              </a:ext>
            </a:extLst>
          </p:cNvPr>
          <p:cNvSpPr>
            <a:spLocks noGrp="1"/>
          </p:cNvSpPr>
          <p:nvPr>
            <p:ph type="title"/>
          </p:nvPr>
        </p:nvSpPr>
        <p:spPr/>
        <p:txBody>
          <a:bodyPr/>
          <a:lstStyle/>
          <a:p>
            <a:r>
              <a:rPr lang="en-US" dirty="0"/>
              <a:t>Reactor balance</a:t>
            </a:r>
            <a:endParaRPr lang="en-PK" dirty="0"/>
          </a:p>
        </p:txBody>
      </p:sp>
      <p:sp>
        <p:nvSpPr>
          <p:cNvPr id="3" name="Content Placeholder 2">
            <a:extLst>
              <a:ext uri="{FF2B5EF4-FFF2-40B4-BE49-F238E27FC236}">
                <a16:creationId xmlns:a16="http://schemas.microsoft.com/office/drawing/2014/main" id="{FEE20CB2-516B-4CFA-8C62-665C8FB3BA96}"/>
              </a:ext>
            </a:extLst>
          </p:cNvPr>
          <p:cNvSpPr>
            <a:spLocks noGrp="1"/>
          </p:cNvSpPr>
          <p:nvPr>
            <p:ph idx="1"/>
          </p:nvPr>
        </p:nvSpPr>
        <p:spPr/>
        <p:txBody>
          <a:bodyPr/>
          <a:lstStyle/>
          <a:p>
            <a:r>
              <a:rPr lang="en-US" dirty="0"/>
              <a:t>Streams similar to material</a:t>
            </a:r>
            <a:endParaRPr lang="en-PK" dirty="0"/>
          </a:p>
        </p:txBody>
      </p:sp>
      <p:graphicFrame>
        <p:nvGraphicFramePr>
          <p:cNvPr id="4" name="Object 3">
            <a:extLst>
              <a:ext uri="{FF2B5EF4-FFF2-40B4-BE49-F238E27FC236}">
                <a16:creationId xmlns:a16="http://schemas.microsoft.com/office/drawing/2014/main" id="{71467A43-D2EC-413E-860D-07E0A04D449D}"/>
              </a:ext>
            </a:extLst>
          </p:cNvPr>
          <p:cNvGraphicFramePr>
            <a:graphicFrameLocks noChangeAspect="1"/>
          </p:cNvGraphicFramePr>
          <p:nvPr>
            <p:extLst>
              <p:ext uri="{D42A27DB-BD31-4B8C-83A1-F6EECF244321}">
                <p14:modId xmlns:p14="http://schemas.microsoft.com/office/powerpoint/2010/main" val="3584461583"/>
              </p:ext>
            </p:extLst>
          </p:nvPr>
        </p:nvGraphicFramePr>
        <p:xfrm>
          <a:off x="1505243" y="1941342"/>
          <a:ext cx="9467557" cy="4220307"/>
        </p:xfrm>
        <a:graphic>
          <a:graphicData uri="http://schemas.openxmlformats.org/presentationml/2006/ole">
            <mc:AlternateContent xmlns:mc="http://schemas.openxmlformats.org/markup-compatibility/2006">
              <mc:Choice xmlns:v="urn:schemas-microsoft-com:vml" Requires="v">
                <p:oleObj spid="_x0000_s10242" name="Worksheet" r:id="rId3" imgW="6715269" imgH="3676628" progId="Excel.Sheet.12">
                  <p:embed/>
                </p:oleObj>
              </mc:Choice>
              <mc:Fallback>
                <p:oleObj name="Worksheet" r:id="rId3" imgW="6715269" imgH="3676628" progId="Excel.Sheet.12">
                  <p:embed/>
                  <p:pic>
                    <p:nvPicPr>
                      <p:cNvPr id="0" name=""/>
                      <p:cNvPicPr/>
                      <p:nvPr/>
                    </p:nvPicPr>
                    <p:blipFill>
                      <a:blip r:embed="rId4"/>
                      <a:stretch>
                        <a:fillRect/>
                      </a:stretch>
                    </p:blipFill>
                    <p:spPr>
                      <a:xfrm>
                        <a:off x="1505243" y="1941342"/>
                        <a:ext cx="9467557" cy="4220307"/>
                      </a:xfrm>
                      <a:prstGeom prst="rect">
                        <a:avLst/>
                      </a:prstGeom>
                    </p:spPr>
                  </p:pic>
                </p:oleObj>
              </mc:Fallback>
            </mc:AlternateContent>
          </a:graphicData>
        </a:graphic>
      </p:graphicFrame>
    </p:spTree>
    <p:extLst>
      <p:ext uri="{BB962C8B-B14F-4D97-AF65-F5344CB8AC3E}">
        <p14:creationId xmlns:p14="http://schemas.microsoft.com/office/powerpoint/2010/main" val="3003267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3C7A3-CBAF-4ED5-9A0B-756B042D3E60}"/>
              </a:ext>
            </a:extLst>
          </p:cNvPr>
          <p:cNvSpPr>
            <a:spLocks noGrp="1"/>
          </p:cNvSpPr>
          <p:nvPr>
            <p:ph type="ctrTitle"/>
          </p:nvPr>
        </p:nvSpPr>
        <p:spPr/>
        <p:txBody>
          <a:bodyPr/>
          <a:lstStyle/>
          <a:p>
            <a:r>
              <a:rPr lang="en-US" dirty="0"/>
              <a:t>The End</a:t>
            </a:r>
            <a:endParaRPr lang="en-PK" dirty="0"/>
          </a:p>
        </p:txBody>
      </p:sp>
    </p:spTree>
    <p:extLst>
      <p:ext uri="{BB962C8B-B14F-4D97-AF65-F5344CB8AC3E}">
        <p14:creationId xmlns:p14="http://schemas.microsoft.com/office/powerpoint/2010/main" val="1343219148"/>
      </p:ext>
    </p:extLst>
  </p:cSld>
  <p:clrMapOvr>
    <a:masterClrMapping/>
  </p:clrMapOvr>
</p:sld>
</file>

<file path=ppt/theme/theme1.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05DA89-9689-4EB7-83A3-32913C232C3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6F44E19-6F9C-40C6-8F6B-82886B90190C}">
  <ds:schemaRefs>
    <ds:schemaRef ds:uri="http://schemas.microsoft.com/sharepoint/v3/contenttype/forms"/>
  </ds:schemaRefs>
</ds:datastoreItem>
</file>

<file path=customXml/itemProps3.xml><?xml version="1.0" encoding="utf-8"?>
<ds:datastoreItem xmlns:ds="http://schemas.openxmlformats.org/officeDocument/2006/customXml" ds:itemID="{A70FA373-FC71-43C5-B962-D433940CCD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Trading cards</Template>
  <TotalTime>385</TotalTime>
  <Words>1034</Words>
  <Application>Microsoft Office PowerPoint</Application>
  <PresentationFormat>Widescreen</PresentationFormat>
  <Paragraphs>141</Paragraphs>
  <Slides>38</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8" baseType="lpstr">
      <vt:lpstr>Arial</vt:lpstr>
      <vt:lpstr>Arial Unicode MS</vt:lpstr>
      <vt:lpstr>Calibri</vt:lpstr>
      <vt:lpstr>Eras Bold ITC</vt:lpstr>
      <vt:lpstr>Franklin Gothic Book</vt:lpstr>
      <vt:lpstr>Impact</vt:lpstr>
      <vt:lpstr>Roboto</vt:lpstr>
      <vt:lpstr>Segoe UI Black</vt:lpstr>
      <vt:lpstr>Crop</vt:lpstr>
      <vt:lpstr>Worksheet</vt:lpstr>
      <vt:lpstr>Carbon Capture And Storage Using Two Stage Aqueous Mineral Carbonation </vt:lpstr>
      <vt:lpstr>Supervisor:      Dr. Imran Rashid Group Members Waleed Akbar  (2018-CH-253) M. Shaiq Gohar   (2018-CH-245) Sarmad Hashmi  (2018-CH-275)</vt:lpstr>
      <vt:lpstr>Contents</vt:lpstr>
      <vt:lpstr>Introduction</vt:lpstr>
      <vt:lpstr>Project selection</vt:lpstr>
      <vt:lpstr>Why we select this project</vt:lpstr>
      <vt:lpstr>International Energy Agency, 2009 </vt:lpstr>
      <vt:lpstr>Process selection</vt:lpstr>
      <vt:lpstr>We choose double stage carbonation</vt:lpstr>
      <vt:lpstr>Raw material selection</vt:lpstr>
      <vt:lpstr>We select Lizardite as raw material</vt:lpstr>
      <vt:lpstr>Process flow diagram</vt:lpstr>
      <vt:lpstr>PowerPoint Presentation</vt:lpstr>
      <vt:lpstr>PFD description</vt:lpstr>
      <vt:lpstr>Conti….</vt:lpstr>
      <vt:lpstr>Conti….</vt:lpstr>
      <vt:lpstr>Capacity selection</vt:lpstr>
      <vt:lpstr>Capacity is selected as</vt:lpstr>
      <vt:lpstr>Material Balance</vt:lpstr>
      <vt:lpstr>Raw materials required</vt:lpstr>
      <vt:lpstr>Slurry preparation  </vt:lpstr>
      <vt:lpstr>Balance for slurry</vt:lpstr>
      <vt:lpstr>Adsorber Balance</vt:lpstr>
      <vt:lpstr>Stripper balance  </vt:lpstr>
      <vt:lpstr>Reactor balance  </vt:lpstr>
      <vt:lpstr>Contin…. </vt:lpstr>
      <vt:lpstr>Contin…. </vt:lpstr>
      <vt:lpstr>Contin…. </vt:lpstr>
      <vt:lpstr>Contin….</vt:lpstr>
      <vt:lpstr>Contin….</vt:lpstr>
      <vt:lpstr>Overall Material Balance </vt:lpstr>
      <vt:lpstr>Energy Balance</vt:lpstr>
      <vt:lpstr>Overall energy balance </vt:lpstr>
      <vt:lpstr>Adsorber balance</vt:lpstr>
      <vt:lpstr>Stripper balance</vt:lpstr>
      <vt:lpstr>Heater balance</vt:lpstr>
      <vt:lpstr>Reactor balance</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Capture And Storage Using Two Stage Aqueous Mineral Carbonation </dc:title>
  <dc:creator>M. Shaiq Gohar</dc:creator>
  <cp:lastModifiedBy>USER</cp:lastModifiedBy>
  <cp:revision>78</cp:revision>
  <dcterms:created xsi:type="dcterms:W3CDTF">2021-01-17T11:39:52Z</dcterms:created>
  <dcterms:modified xsi:type="dcterms:W3CDTF">2025-11-11T22:25:57Z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